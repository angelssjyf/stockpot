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Presentación del equipo, la materia, la docente y el cliente (Sexto Sentido Café &amp; Brunch). Hoy mostramos el 70 % del software: Iteraciones 1, 2 y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problema: control manual. La solución: un sistema web que conecta compras, inventario, recetas, ventas y reportes.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Medimos el avance con puntos de función: 233 de 330 PF transaccionales (376 de 515 PFSA = 73 %). Falta la Iteración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capas: interfaz web sin frameworks, API REST en Flask con JWT y MySQL 8.4. Se trabaja con GitFlow: una rama por requisito y merge a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recorrido que mostraremos en la demo: compra, receta, pedido, pago, venta (que descuenta inventario) y reportes.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Planificación en Jira y GanttProject, estimación por puntos de función y PERT. La documentación sigue la estructura de IEEE 1058 (planes de gestión de proyectos de software).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Pruebas automáticas con pytest: 226 de integración contra la API y 41 unitarias de las reglas de negocio. 95 % de cobertura. Ningún cambio entra a develop si una prueba falla.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del 30 % restante hasta la entrega final del 13 de noviembre.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iniciar.bat antes de la sustentación. Recorrido: crear usuario, proveedor y compra, inventario, producto con receta, domicilio, cobro en caja, venta y reportes.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6858000" cy="1280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D9480F"/>
                </a:solidFill>
                <a:latin typeface="Calibri"/>
              </a:rPr>
              <a:t>StockPot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685800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Calibri"/>
              </a:rPr>
              <a:t>Sistema web de gestión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Calibri"/>
              </a:rPr>
              <a:t>para restaurantes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017520"/>
            <a:ext cx="6035040" cy="68580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6035040" cy="6858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Entrega parcial del 70 % — 2.º corte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931920"/>
            <a:ext cx="658368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1A1A1A"/>
                </a:solidFill>
                <a:latin typeface="Calibri"/>
              </a:rPr>
              <a:t>Ingeniería del Software II</a:t>
            </a:r>
          </a:p>
          <a:p>
            <a:pPr algn="l">
              <a:lnSpc>
                <a:spcPct val="100000"/>
              </a:lnSpc>
            </a:pPr>
            <a:r>
              <a:rPr sz="2200" b="0">
                <a:solidFill>
                  <a:srgbClr val="1A1A1A"/>
                </a:solidFill>
                <a:latin typeface="Calibri"/>
              </a:rPr>
              <a:t>Universidad Simón Bolívar — sede Cúcuta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846320"/>
            <a:ext cx="32918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D9480F"/>
                </a:solidFill>
                <a:latin typeface="Calibri"/>
              </a:rPr>
              <a:t>Docente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1A1A1A"/>
                </a:solidFill>
                <a:latin typeface="Calibri"/>
              </a:rPr>
              <a:t>Prof. Nataly Duque Páez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4846320"/>
            <a:ext cx="356616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D9480F"/>
                </a:solidFill>
                <a:latin typeface="Calibri"/>
              </a:rPr>
              <a:t>Cliente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1A1A1A"/>
                </a:solidFill>
                <a:latin typeface="Calibri"/>
              </a:rPr>
              <a:t>Sexto Sentido Café &amp; Brunch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806440"/>
            <a:ext cx="640080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20 de octubre de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640080"/>
            <a:ext cx="3657600" cy="5486400"/>
          </a:xfrm>
          <a:prstGeom prst="rect">
            <a:avLst/>
          </a:prstGeom>
          <a:solidFill>
            <a:srgbClr val="FFFFFF"/>
          </a:solidFill>
          <a:ln w="381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01000" y="640080"/>
            <a:ext cx="3657600" cy="77724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640080"/>
            <a:ext cx="365760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Equipo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645920"/>
            <a:ext cx="3291840" cy="4297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1A1A"/>
                </a:solidFill>
                <a:latin typeface="Calibri"/>
              </a:rPr>
              <a:t>Ángel David Rodríguez Vega</a:t>
            </a:r>
          </a:p>
          <a:p>
            <a:pPr algn="l">
              <a:lnSpc>
                <a:spcPct val="100000"/>
              </a:lnSpc>
            </a:pPr>
            <a:r>
              <a:rPr sz="1800" b="1">
                <a:solidFill>
                  <a:srgbClr val="D9480F"/>
                </a:solidFill>
                <a:latin typeface="Calibri"/>
              </a:rPr>
              <a:t>Líder del proyecto (PM)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2B2B2B"/>
                </a:solidFill>
                <a:latin typeface="Calibri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1A1A"/>
                </a:solidFill>
                <a:latin typeface="Calibri"/>
              </a:rPr>
              <a:t>Andrés Mateo Puentes</a:t>
            </a:r>
          </a:p>
          <a:p>
            <a:pPr algn="l">
              <a:lnSpc>
                <a:spcPct val="100000"/>
              </a:lnSpc>
            </a:pPr>
            <a:r>
              <a:rPr sz="1800" b="1">
                <a:solidFill>
                  <a:srgbClr val="D9480F"/>
                </a:solidFill>
                <a:latin typeface="Calibri"/>
              </a:rPr>
              <a:t>Desarrollador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2B2B2B"/>
                </a:solidFill>
                <a:latin typeface="Calibri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1A1A"/>
                </a:solidFill>
                <a:latin typeface="Calibri"/>
              </a:rPr>
              <a:t>Jhorman Caballero</a:t>
            </a:r>
          </a:p>
          <a:p>
            <a:pPr algn="l">
              <a:lnSpc>
                <a:spcPct val="100000"/>
              </a:lnSpc>
            </a:pPr>
            <a:r>
              <a:rPr sz="1800" b="1">
                <a:solidFill>
                  <a:srgbClr val="D9480F"/>
                </a:solidFill>
                <a:latin typeface="Calibri"/>
              </a:rPr>
              <a:t>Desarrollador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2B2B2B"/>
                </a:solidFill>
                <a:latin typeface="Calibri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1A1A"/>
                </a:solidFill>
                <a:latin typeface="Calibri"/>
              </a:rPr>
              <a:t>Yovany Peñaranda</a:t>
            </a:r>
          </a:p>
          <a:p>
            <a:pPr algn="l">
              <a:lnSpc>
                <a:spcPct val="100000"/>
              </a:lnSpc>
            </a:pPr>
            <a:r>
              <a:rPr sz="1800" b="1">
                <a:solidFill>
                  <a:srgbClr val="D9480F"/>
                </a:solidFill>
                <a:latin typeface="Calibri"/>
              </a:rPr>
              <a:t>Desarrollador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2B2B2B"/>
                </a:solidFill>
                <a:latin typeface="Calibri"/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D9480F"/>
                </a:solidFill>
                <a:latin typeface="Calibri"/>
              </a:rPr>
              <a:t>El problema </a:t>
            </a:r>
            <a:r>
              <a:rPr sz="4400" b="1">
                <a:solidFill>
                  <a:srgbClr val="1A1A1A"/>
                </a:solidFill>
                <a:latin typeface="Calibri"/>
              </a:rPr>
              <a:t>y nuestra solución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325880"/>
            <a:ext cx="1810512" cy="0"/>
          </a:xfrm>
          <a:prstGeom prst="line">
            <a:avLst/>
          </a:prstGeom>
          <a:ln w="6350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691640"/>
            <a:ext cx="5120640" cy="4434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466344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A"/>
                </a:solidFill>
                <a:latin typeface="Calibri"/>
              </a:rPr>
              <a:t>Hoy en el restaurante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4709160" cy="3566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2B2B2B"/>
                </a:solidFill>
                <a:latin typeface="Calibri"/>
              </a:rPr>
              <a:t>• Inventario, pedidos y ventas en papel o en hojas de cálculo.</a:t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2B2B2B"/>
                </a:solidFill>
                <a:latin typeface="Calibri"/>
              </a:rPr>
              <a:t>• Se pierden insumos y se compra de más.</a:t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2B2B2B"/>
                </a:solidFill>
                <a:latin typeface="Calibri"/>
              </a:rPr>
              <a:t>• No se conoce el costo real de cada plato.</a:t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2B2B2B"/>
                </a:solidFill>
                <a:latin typeface="Calibri"/>
              </a:rPr>
              <a:t>• La información no sirve para decidir.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52160" y="3429000"/>
            <a:ext cx="685800" cy="822960"/>
          </a:xfrm>
          <a:prstGeom prst="rightArrow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720840" y="1691640"/>
            <a:ext cx="4937760" cy="4434840"/>
          </a:xfrm>
          <a:prstGeom prst="rect">
            <a:avLst/>
          </a:prstGeom>
          <a:solidFill>
            <a:srgbClr val="FFFFFF"/>
          </a:solidFill>
          <a:ln w="381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20840" y="1691640"/>
            <a:ext cx="4937760" cy="73152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1691640"/>
            <a:ext cx="493776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StockPot lo une todo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606040"/>
            <a:ext cx="4572000" cy="3474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D9480F"/>
                </a:solidFill>
                <a:latin typeface="Calibri"/>
              </a:rPr>
              <a:t>Inventario </a:t>
            </a:r>
            <a:r>
              <a:rPr sz="2200" b="0">
                <a:solidFill>
                  <a:srgbClr val="1A1A1A"/>
                </a:solidFill>
                <a:latin typeface="Calibri"/>
              </a:rPr>
              <a:t>con alertas de stock mínimo</a:t>
            </a:r>
          </a:p>
          <a:p>
            <a:pPr algn="l">
              <a:lnSpc>
                <a:spcPct val="125000"/>
              </a:lnSpc>
            </a:pPr>
            <a:r>
              <a:rPr sz="2200" b="1">
                <a:solidFill>
                  <a:srgbClr val="D9480F"/>
                </a:solidFill>
                <a:latin typeface="Calibri"/>
              </a:rPr>
              <a:t>Recetas </a:t>
            </a:r>
            <a:r>
              <a:rPr sz="2200" b="0">
                <a:solidFill>
                  <a:srgbClr val="1A1A1A"/>
                </a:solidFill>
                <a:latin typeface="Calibri"/>
              </a:rPr>
              <a:t>que calculan el costo de cada plato</a:t>
            </a:r>
          </a:p>
          <a:p>
            <a:pPr algn="l">
              <a:lnSpc>
                <a:spcPct val="125000"/>
              </a:lnSpc>
            </a:pPr>
            <a:r>
              <a:rPr sz="2200" b="1">
                <a:solidFill>
                  <a:srgbClr val="D9480F"/>
                </a:solidFill>
                <a:latin typeface="Calibri"/>
              </a:rPr>
              <a:t>Domicilios, pagos y ventas </a:t>
            </a:r>
            <a:r>
              <a:rPr sz="2200" b="0">
                <a:solidFill>
                  <a:srgbClr val="1A1A1A"/>
                </a:solidFill>
                <a:latin typeface="Calibri"/>
              </a:rPr>
              <a:t>en un solo lugar</a:t>
            </a:r>
          </a:p>
          <a:p>
            <a:pPr algn="l">
              <a:lnSpc>
                <a:spcPct val="125000"/>
              </a:lnSpc>
            </a:pPr>
            <a:r>
              <a:rPr sz="2200" b="1">
                <a:solidFill>
                  <a:srgbClr val="D9480F"/>
                </a:solidFill>
                <a:latin typeface="Calibri"/>
              </a:rPr>
              <a:t>Reportes </a:t>
            </a:r>
            <a:r>
              <a:rPr sz="2200" b="0">
                <a:solidFill>
                  <a:srgbClr val="1A1A1A"/>
                </a:solidFill>
                <a:latin typeface="Calibri"/>
              </a:rPr>
              <a:t>para tomar decisiones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D9480F"/>
                </a:solidFill>
                <a:latin typeface="Calibri"/>
              </a:rPr>
              <a:t>Alcance: </a:t>
            </a:r>
            <a:r>
              <a:rPr sz="4400" b="1">
                <a:solidFill>
                  <a:srgbClr val="1A1A1A"/>
                </a:solidFill>
                <a:latin typeface="Calibri"/>
              </a:rPr>
              <a:t>70 % entregado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325880"/>
            <a:ext cx="1810512" cy="0"/>
          </a:xfrm>
          <a:prstGeom prst="line">
            <a:avLst/>
          </a:prstGeom>
          <a:ln w="6350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A1A1A"/>
                </a:solidFill>
                <a:latin typeface="Calibri"/>
              </a:rPr>
              <a:t>11 módulos en 4 iteraciones. En este corte se entregan las </a:t>
            </a:r>
            <a:r>
              <a:rPr sz="2400" b="1">
                <a:solidFill>
                  <a:srgbClr val="D9480F"/>
                </a:solidFill>
                <a:latin typeface="Calibri"/>
              </a:rPr>
              <a:t>Iteraciones 1, 2 y 4</a:t>
            </a:r>
            <a:r>
              <a:rPr sz="2400" b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31720"/>
            <a:ext cx="3520440" cy="233172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79"/>
            <a:ext cx="3520440" cy="128244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D9480F"/>
                </a:solidFill>
                <a:latin typeface="Calibri"/>
              </a:rPr>
              <a:t>233 / 330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84117"/>
            <a:ext cx="3246120" cy="9326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puntos de función (70,6 %)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4256" y="2331720"/>
            <a:ext cx="3520440" cy="233172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4256" y="2468879"/>
            <a:ext cx="3520440" cy="128244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D9480F"/>
                </a:solidFill>
                <a:latin typeface="Calibri"/>
              </a:rPr>
              <a:t>8 /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71416" y="3684117"/>
            <a:ext cx="3246120" cy="9326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módulos funcionando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2331720"/>
            <a:ext cx="3520440" cy="233172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19872" y="2468879"/>
            <a:ext cx="3520440" cy="128244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D9480F"/>
                </a:solidFill>
                <a:latin typeface="Calibri"/>
              </a:rPr>
              <a:t>56 / 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2" y="3684117"/>
            <a:ext cx="3246120" cy="9326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requisitos funcionales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937760"/>
            <a:ext cx="11091672" cy="118872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937760"/>
            <a:ext cx="2377440" cy="118872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937760"/>
            <a:ext cx="2377440" cy="1188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Pendiente</a:t>
            </a:r>
          </a:p>
          <a:p>
            <a:pPr algn="ctr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libri"/>
              </a:rPr>
              <a:t>30 %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4937760"/>
            <a:ext cx="8321040" cy="1188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Iteración 3: </a:t>
            </a:r>
            <a:r>
              <a:rPr sz="2200" b="0">
                <a:solidFill>
                  <a:srgbClr val="2B2B2B"/>
                </a:solidFill>
                <a:latin typeface="Calibri"/>
              </a:rPr>
              <a:t>pedidos en mesa, cocina y reservas (entrega final 13/11/2026)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D9480F"/>
                </a:solidFill>
                <a:latin typeface="Calibri"/>
              </a:rPr>
              <a:t>Arquitectura </a:t>
            </a:r>
            <a:r>
              <a:rPr sz="4400" b="1">
                <a:solidFill>
                  <a:srgbClr val="1A1A1A"/>
                </a:solidFill>
                <a:latin typeface="Calibri"/>
              </a:rPr>
              <a:t>y tecnología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325880"/>
            <a:ext cx="1810512" cy="0"/>
          </a:xfrm>
          <a:prstGeom prst="line">
            <a:avLst/>
          </a:prstGeom>
          <a:ln w="6350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691640"/>
            <a:ext cx="3246120" cy="2651760"/>
          </a:xfrm>
          <a:prstGeom prst="rect">
            <a:avLst/>
          </a:prstGeom>
          <a:solidFill>
            <a:srgbClr val="FFFFFF"/>
          </a:solidFill>
          <a:ln w="317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3246120" cy="68580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3246120" cy="6858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Página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306324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HTML</a:t>
            </a:r>
          </a:p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CSS</a:t>
            </a:r>
          </a:p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JavaScript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58768" y="2697480"/>
            <a:ext cx="457200" cy="640080"/>
          </a:xfrm>
          <a:prstGeom prst="rightArrow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691640"/>
            <a:ext cx="3246120" cy="2651760"/>
          </a:xfrm>
          <a:prstGeom prst="rect">
            <a:avLst/>
          </a:prstGeom>
          <a:solidFill>
            <a:srgbClr val="FFFFFF"/>
          </a:solidFill>
          <a:ln w="317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691640"/>
            <a:ext cx="3246120" cy="68580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691640"/>
            <a:ext cx="3246120" cy="6858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API REST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514600"/>
            <a:ext cx="306324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Flask (Python)</a:t>
            </a:r>
          </a:p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Token JWT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699248" y="2697480"/>
            <a:ext cx="457200" cy="640080"/>
          </a:xfrm>
          <a:prstGeom prst="rightArrow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0" y="1691640"/>
            <a:ext cx="3246120" cy="2651760"/>
          </a:xfrm>
          <a:prstGeom prst="rect">
            <a:avLst/>
          </a:prstGeom>
          <a:solidFill>
            <a:srgbClr val="FFFFFF"/>
          </a:solidFill>
          <a:ln w="317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691640"/>
            <a:ext cx="3246120" cy="68580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691640"/>
            <a:ext cx="3246120" cy="6858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Base de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514600"/>
            <a:ext cx="306324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MySQL 8.4</a:t>
            </a:r>
          </a:p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17 tablas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434840"/>
            <a:ext cx="110642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2B2B2B"/>
                </a:solidFill>
                <a:latin typeface="Calibri"/>
              </a:rPr>
              <a:t>HTTP / JSON  →  SQLAlchemy  →  SQL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937760"/>
            <a:ext cx="2651760" cy="1188720"/>
          </a:xfrm>
          <a:prstGeom prst="rect">
            <a:avLst/>
          </a:prstGeom>
          <a:solidFill>
            <a:srgbClr val="FFFFFF"/>
          </a:solidFill>
          <a:ln w="222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937760"/>
            <a:ext cx="2651760" cy="1188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Seguridad</a:t>
            </a:r>
          </a:p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D9480F"/>
                </a:solidFill>
                <a:latin typeface="Calibri"/>
              </a:rPr>
              <a:t>roles y permisos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64992" y="4937760"/>
            <a:ext cx="2651760" cy="1188720"/>
          </a:xfrm>
          <a:prstGeom prst="rect">
            <a:avLst/>
          </a:prstGeom>
          <a:solidFill>
            <a:srgbClr val="FFFFFF"/>
          </a:solidFill>
          <a:ln w="222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64992" y="4937760"/>
            <a:ext cx="2651760" cy="1188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Contraseñas</a:t>
            </a:r>
          </a:p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D9480F"/>
                </a:solidFill>
                <a:latin typeface="Calibri"/>
              </a:rPr>
              <a:t>cifradas (scrypt)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81344" y="4937760"/>
            <a:ext cx="2651760" cy="1188720"/>
          </a:xfrm>
          <a:prstGeom prst="rect">
            <a:avLst/>
          </a:prstGeom>
          <a:solidFill>
            <a:srgbClr val="FFFFFF"/>
          </a:solidFill>
          <a:ln w="222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81344" y="4937760"/>
            <a:ext cx="2651760" cy="1188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Git y GitHub</a:t>
            </a:r>
          </a:p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D9480F"/>
                </a:solidFill>
                <a:latin typeface="Calibri"/>
              </a:rPr>
              <a:t>con GitFlow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97696" y="4937760"/>
            <a:ext cx="2651760" cy="1188720"/>
          </a:xfrm>
          <a:prstGeom prst="rect">
            <a:avLst/>
          </a:prstGeom>
          <a:solidFill>
            <a:srgbClr val="FFFFFF"/>
          </a:solidFill>
          <a:ln w="222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7696" y="4937760"/>
            <a:ext cx="2651760" cy="1188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Servidor Waitress</a:t>
            </a:r>
          </a:p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D9480F"/>
                </a:solidFill>
                <a:latin typeface="Calibri"/>
              </a:rPr>
              <a:t>y enlace con ngrok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D9480F"/>
                </a:solidFill>
                <a:latin typeface="Calibri"/>
              </a:rPr>
              <a:t>Cómo funciona: </a:t>
            </a:r>
            <a:r>
              <a:rPr sz="4400" b="1">
                <a:solidFill>
                  <a:srgbClr val="1A1A1A"/>
                </a:solidFill>
                <a:latin typeface="Calibri"/>
              </a:rPr>
              <a:t>del insumo al reporte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325880"/>
            <a:ext cx="1810512" cy="0"/>
          </a:xfrm>
          <a:prstGeom prst="line">
            <a:avLst/>
          </a:prstGeom>
          <a:ln w="6350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1005840" y="1828800"/>
            <a:ext cx="914400" cy="91440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914400" cy="9144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65960" y="2286000"/>
            <a:ext cx="868680" cy="0"/>
          </a:xfrm>
          <a:prstGeom prst="line">
            <a:avLst/>
          </a:prstGeom>
          <a:ln w="4445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48640" y="3017520"/>
            <a:ext cx="1783080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3108960"/>
            <a:ext cx="16459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Compra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03320"/>
            <a:ext cx="160020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0">
                <a:solidFill>
                  <a:srgbClr val="2B2B2B"/>
                </a:solidFill>
                <a:latin typeface="Calibri"/>
              </a:rPr>
              <a:t>El insumo entra al inventario</a:t>
            </a:r>
          </a:p>
        </p:txBody>
      </p:sp>
      <p:sp>
        <p:nvSpPr>
          <p:cNvPr id="10" name="Oval 9"/>
          <p:cNvSpPr/>
          <p:nvPr/>
        </p:nvSpPr>
        <p:spPr>
          <a:xfrm>
            <a:off x="2880360" y="1828800"/>
            <a:ext cx="914400" cy="91440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1828800"/>
            <a:ext cx="914400" cy="9144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840480" y="2286000"/>
            <a:ext cx="868680" cy="0"/>
          </a:xfrm>
          <a:prstGeom prst="line">
            <a:avLst/>
          </a:prstGeom>
          <a:ln w="4445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423160" y="3017520"/>
            <a:ext cx="1783080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96312" y="3108960"/>
            <a:ext cx="16459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Receta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3703320"/>
            <a:ext cx="160020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0">
                <a:solidFill>
                  <a:srgbClr val="2B2B2B"/>
                </a:solidFill>
                <a:latin typeface="Calibri"/>
              </a:rPr>
              <a:t>Cada plato sabe qué insumos usa</a:t>
            </a:r>
          </a:p>
        </p:txBody>
      </p:sp>
      <p:sp>
        <p:nvSpPr>
          <p:cNvPr id="16" name="Oval 15"/>
          <p:cNvSpPr/>
          <p:nvPr/>
        </p:nvSpPr>
        <p:spPr>
          <a:xfrm>
            <a:off x="4754879" y="1828800"/>
            <a:ext cx="914400" cy="91440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79" y="1828800"/>
            <a:ext cx="914400" cy="9144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14999" y="2286000"/>
            <a:ext cx="868680" cy="0"/>
          </a:xfrm>
          <a:prstGeom prst="line">
            <a:avLst/>
          </a:prstGeom>
          <a:ln w="4445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297679" y="3017520"/>
            <a:ext cx="1783080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70831" y="3108960"/>
            <a:ext cx="16459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Pedido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19" y="3703320"/>
            <a:ext cx="160020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0">
                <a:solidFill>
                  <a:srgbClr val="2B2B2B"/>
                </a:solidFill>
                <a:latin typeface="Calibri"/>
              </a:rPr>
              <a:t>A domicilio o en caja</a:t>
            </a:r>
          </a:p>
        </p:txBody>
      </p:sp>
      <p:sp>
        <p:nvSpPr>
          <p:cNvPr id="22" name="Oval 21"/>
          <p:cNvSpPr/>
          <p:nvPr/>
        </p:nvSpPr>
        <p:spPr>
          <a:xfrm>
            <a:off x="6629399" y="1828800"/>
            <a:ext cx="914400" cy="91440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399" y="1828800"/>
            <a:ext cx="914400" cy="9144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89519" y="2286000"/>
            <a:ext cx="868681" cy="0"/>
          </a:xfrm>
          <a:prstGeom prst="line">
            <a:avLst/>
          </a:prstGeom>
          <a:ln w="4445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172199" y="3017520"/>
            <a:ext cx="1783080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5351" y="3108960"/>
            <a:ext cx="16459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Pago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39" y="3703320"/>
            <a:ext cx="160020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0">
                <a:solidFill>
                  <a:srgbClr val="2B2B2B"/>
                </a:solidFill>
                <a:latin typeface="Calibri"/>
              </a:rPr>
              <a:t>Efectivo, tarjeta o transferencia</a:t>
            </a:r>
          </a:p>
        </p:txBody>
      </p:sp>
      <p:sp>
        <p:nvSpPr>
          <p:cNvPr id="28" name="Oval 27"/>
          <p:cNvSpPr/>
          <p:nvPr/>
        </p:nvSpPr>
        <p:spPr>
          <a:xfrm>
            <a:off x="8503919" y="1828800"/>
            <a:ext cx="914400" cy="91440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19" y="1828800"/>
            <a:ext cx="914400" cy="9144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64040" y="2286000"/>
            <a:ext cx="868679" cy="0"/>
          </a:xfrm>
          <a:prstGeom prst="line">
            <a:avLst/>
          </a:prstGeom>
          <a:ln w="4445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8046719" y="3017520"/>
            <a:ext cx="1783080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19871" y="3108960"/>
            <a:ext cx="16459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Venta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59" y="3703320"/>
            <a:ext cx="160020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0">
                <a:solidFill>
                  <a:srgbClr val="2B2B2B"/>
                </a:solidFill>
                <a:latin typeface="Calibri"/>
              </a:rPr>
              <a:t>Descuenta los insumos automáticamente</a:t>
            </a:r>
          </a:p>
        </p:txBody>
      </p:sp>
      <p:sp>
        <p:nvSpPr>
          <p:cNvPr id="34" name="Oval 33"/>
          <p:cNvSpPr/>
          <p:nvPr/>
        </p:nvSpPr>
        <p:spPr>
          <a:xfrm>
            <a:off x="10378440" y="1828800"/>
            <a:ext cx="914400" cy="91440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78440" y="1828800"/>
            <a:ext cx="914400" cy="9144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921240" y="3017520"/>
            <a:ext cx="1783080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94392" y="3108960"/>
            <a:ext cx="16459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Reportes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12680" y="3703320"/>
            <a:ext cx="160020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0">
                <a:solidFill>
                  <a:srgbClr val="2B2B2B"/>
                </a:solidFill>
                <a:latin typeface="Calibri"/>
              </a:rPr>
              <a:t>Información para decidir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5577840"/>
            <a:ext cx="11064240" cy="594360"/>
          </a:xfrm>
          <a:prstGeom prst="rect">
            <a:avLst/>
          </a:prstGeom>
          <a:solidFill>
            <a:srgbClr val="FFF1EA"/>
          </a:solidFill>
          <a:ln w="190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577840"/>
            <a:ext cx="11064240" cy="594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Todo en una sola transacción: si falta un insumo, no queda ni el pago ni la venta a medias.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D9480F"/>
                </a:solidFill>
                <a:latin typeface="Calibri"/>
              </a:rPr>
              <a:t>Gestión </a:t>
            </a:r>
            <a:r>
              <a:rPr sz="4400" b="1">
                <a:solidFill>
                  <a:srgbClr val="1A1A1A"/>
                </a:solidFill>
                <a:latin typeface="Calibri"/>
              </a:rPr>
              <a:t>del proyecto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325880"/>
            <a:ext cx="1810512" cy="0"/>
          </a:xfrm>
          <a:prstGeom prst="line">
            <a:avLst/>
          </a:prstGeom>
          <a:ln w="6350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691640"/>
            <a:ext cx="5486400" cy="64008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4864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Jira: 166 tareas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182880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82880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D9480F"/>
                </a:solidFill>
                <a:latin typeface="Calibri"/>
              </a:rPr>
              <a:t>123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37560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listas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2331720"/>
            <a:ext cx="182880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0" y="2377440"/>
            <a:ext cx="182880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D9480F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3337560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en curso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2331720"/>
            <a:ext cx="182880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2377440"/>
            <a:ext cx="182880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D9480F"/>
                </a:solidFill>
                <a:latin typeface="Calibri"/>
              </a:rPr>
              <a:t>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3337560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por hacer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51960"/>
            <a:ext cx="5486400" cy="1737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B2B2B"/>
                </a:solidFill>
                <a:latin typeface="Calibri"/>
              </a:rPr>
              <a:t>• Una tarea por cada actividad del plan PERT.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2B2B2B"/>
                </a:solidFill>
                <a:latin typeface="Calibri"/>
              </a:rPr>
              <a:t>• Un sprint por iteración.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2B2B2B"/>
                </a:solidFill>
                <a:latin typeface="Calibri"/>
              </a:rPr>
              <a:t>• Estados: Por hacer → En curso → Listo.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691640"/>
            <a:ext cx="5239512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1691640"/>
            <a:ext cx="164592" cy="96012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1737360"/>
            <a:ext cx="48463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Cronograma en GanttProject</a:t>
            </a:r>
          </a:p>
          <a:p>
            <a:pPr algn="l">
              <a:lnSpc>
                <a:spcPct val="100000"/>
              </a:lnSpc>
            </a:pPr>
            <a:r>
              <a:rPr sz="2000" b="1">
                <a:solidFill>
                  <a:srgbClr val="D9480F"/>
                </a:solidFill>
                <a:latin typeface="Calibri"/>
              </a:rPr>
              <a:t>10 de agosto al 13 de noviembre de 2026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807208"/>
            <a:ext cx="5239512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2807208"/>
            <a:ext cx="164592" cy="96012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2852928"/>
            <a:ext cx="48463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Estimación</a:t>
            </a:r>
          </a:p>
          <a:p>
            <a:pPr algn="l">
              <a:lnSpc>
                <a:spcPct val="100000"/>
              </a:lnSpc>
            </a:pPr>
            <a:r>
              <a:rPr sz="2000" b="1">
                <a:solidFill>
                  <a:srgbClr val="D9480F"/>
                </a:solidFill>
                <a:latin typeface="Calibri"/>
              </a:rPr>
              <a:t>puntos de función y PERT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922776"/>
            <a:ext cx="5239512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3922776"/>
            <a:ext cx="164592" cy="96012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0840" y="3968496"/>
            <a:ext cx="48463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Documentación</a:t>
            </a:r>
          </a:p>
          <a:p>
            <a:pPr algn="l">
              <a:lnSpc>
                <a:spcPct val="100000"/>
              </a:lnSpc>
            </a:pPr>
            <a:r>
              <a:rPr sz="2000" b="1">
                <a:solidFill>
                  <a:srgbClr val="D9480F"/>
                </a:solidFill>
                <a:latin typeface="Calibri"/>
              </a:rPr>
              <a:t>organizada según IEEE 1058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038344"/>
            <a:ext cx="5239512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5038344"/>
            <a:ext cx="164592" cy="96012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5084064"/>
            <a:ext cx="48463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Control de versiones</a:t>
            </a:r>
          </a:p>
          <a:p>
            <a:pPr algn="l">
              <a:lnSpc>
                <a:spcPct val="100000"/>
              </a:lnSpc>
            </a:pPr>
            <a:r>
              <a:rPr sz="2000" b="1">
                <a:solidFill>
                  <a:srgbClr val="D9480F"/>
                </a:solidFill>
                <a:latin typeface="Calibri"/>
              </a:rPr>
              <a:t>GitHub con GitFlow (v0.7)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D9480F"/>
                </a:solidFill>
                <a:latin typeface="Calibri"/>
              </a:rPr>
              <a:t>Calidad </a:t>
            </a:r>
            <a:r>
              <a:rPr sz="4400" b="1">
                <a:solidFill>
                  <a:srgbClr val="1A1A1A"/>
                </a:solidFill>
                <a:latin typeface="Calibri"/>
              </a:rPr>
              <a:t>y pruebas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325880"/>
            <a:ext cx="1810512" cy="0"/>
          </a:xfrm>
          <a:prstGeom prst="line">
            <a:avLst/>
          </a:prstGeom>
          <a:ln w="6350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691640"/>
            <a:ext cx="3520440" cy="210312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3520440" cy="11567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>
                <a:solidFill>
                  <a:srgbClr val="D9480F"/>
                </a:solidFill>
                <a:latin typeface="Calibri"/>
              </a:rPr>
              <a:t>267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911449"/>
            <a:ext cx="3246120" cy="8412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pruebas automatizadas aprobadas (100 %)</a:t>
            </a:r>
          </a:p>
        </p:txBody>
      </p:sp>
      <p:sp>
        <p:nvSpPr>
          <p:cNvPr id="7" name="Rectangle 6"/>
          <p:cNvSpPr/>
          <p:nvPr/>
        </p:nvSpPr>
        <p:spPr>
          <a:xfrm>
            <a:off x="4334255" y="1691640"/>
            <a:ext cx="3520440" cy="210312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34255" y="1828800"/>
            <a:ext cx="3520440" cy="11567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>
                <a:solidFill>
                  <a:srgbClr val="D9480F"/>
                </a:solidFill>
                <a:latin typeface="Calibri"/>
              </a:rPr>
              <a:t>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1416" y="2911449"/>
            <a:ext cx="3246120" cy="8412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pruebas unitarias con pytest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19871" y="1691640"/>
            <a:ext cx="3520440" cy="210312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9871" y="1828800"/>
            <a:ext cx="3520440" cy="11567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>
                <a:solidFill>
                  <a:srgbClr val="D9480F"/>
                </a:solidFill>
                <a:latin typeface="Calibri"/>
              </a:rPr>
              <a:t>95 %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7031" y="2911449"/>
            <a:ext cx="3246120" cy="8412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de cobertura del código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977639"/>
            <a:ext cx="3520440" cy="210312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114800"/>
            <a:ext cx="3520440" cy="11567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>
                <a:solidFill>
                  <a:srgbClr val="D9480F"/>
                </a:solidFill>
                <a:latin typeface="Calibri"/>
              </a:rPr>
              <a:t>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197449"/>
            <a:ext cx="3246120" cy="8412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casos de prueba CRUD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4255" y="3977639"/>
            <a:ext cx="3520440" cy="210312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34255" y="4114800"/>
            <a:ext cx="3520440" cy="11567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>
                <a:solidFill>
                  <a:srgbClr val="D9480F"/>
                </a:solidFill>
                <a:latin typeface="Calibri"/>
              </a:rPr>
              <a:t>10 /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1416" y="5197449"/>
            <a:ext cx="3246120" cy="8412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criterios de aceptación cumplidos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19871" y="3977639"/>
            <a:ext cx="3520440" cy="210312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9871" y="4114800"/>
            <a:ext cx="3520440" cy="11567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>
                <a:solidFill>
                  <a:srgbClr val="D9480F"/>
                </a:solidFill>
                <a:latin typeface="Calibri"/>
              </a:rP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5197449"/>
            <a:ext cx="3246120" cy="8412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defectos encontrados y corregidos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D9480F"/>
                </a:solidFill>
                <a:latin typeface="Calibri"/>
              </a:rPr>
              <a:t>Lo que sigue: </a:t>
            </a:r>
            <a:r>
              <a:rPr sz="4400" b="1">
                <a:solidFill>
                  <a:srgbClr val="1A1A1A"/>
                </a:solidFill>
                <a:latin typeface="Calibri"/>
              </a:rPr>
              <a:t>el 30 % restante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325880"/>
            <a:ext cx="1810512" cy="0"/>
          </a:xfrm>
          <a:prstGeom prst="line">
            <a:avLst/>
          </a:prstGeom>
          <a:ln w="6350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548640" y="1874519"/>
            <a:ext cx="960120" cy="96012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960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783080" y="1737360"/>
            <a:ext cx="9857232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1783080"/>
            <a:ext cx="5760720" cy="1143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A"/>
                </a:solidFill>
                <a:latin typeface="Calibri"/>
              </a:rPr>
              <a:t>Iteración 3</a:t>
            </a:r>
          </a:p>
          <a:p>
            <a:pPr algn="l">
              <a:lnSpc>
                <a:spcPct val="100000"/>
              </a:lnSpc>
            </a:pPr>
            <a:r>
              <a:rPr sz="2100" b="0">
                <a:solidFill>
                  <a:srgbClr val="2B2B2B"/>
                </a:solidFill>
                <a:latin typeface="Calibri"/>
              </a:rPr>
              <a:t>Pedidos en mesa, cocina y reservas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1783080"/>
            <a:ext cx="3840480" cy="1143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2100" b="1">
                <a:solidFill>
                  <a:srgbClr val="D9480F"/>
                </a:solidFill>
                <a:latin typeface="Calibri"/>
              </a:rPr>
              <a:t>21 de octubre al 13 de noviembre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37560"/>
            <a:ext cx="960120" cy="96012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337560"/>
            <a:ext cx="960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83080" y="3200400"/>
            <a:ext cx="9857232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246120"/>
            <a:ext cx="5760720" cy="1143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A"/>
                </a:solidFill>
                <a:latin typeface="Calibri"/>
              </a:rPr>
              <a:t>Pruebas de aceptación</a:t>
            </a:r>
          </a:p>
          <a:p>
            <a:pPr algn="l">
              <a:lnSpc>
                <a:spcPct val="100000"/>
              </a:lnSpc>
            </a:pPr>
            <a:r>
              <a:rPr sz="2100" b="0">
                <a:solidFill>
                  <a:srgbClr val="2B2B2B"/>
                </a:solidFill>
                <a:latin typeface="Calibri"/>
              </a:rPr>
              <a:t>Con el cliente Sexto Sentido Café &amp; Brunch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3246120"/>
            <a:ext cx="3840480" cy="1143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2100" b="1">
                <a:solidFill>
                  <a:srgbClr val="D9480F"/>
                </a:solidFill>
                <a:latin typeface="Calibri"/>
              </a:rPr>
              <a:t>Antes de la entrega final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800600"/>
            <a:ext cx="960120" cy="96012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800600"/>
            <a:ext cx="960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83080" y="4663440"/>
            <a:ext cx="9857232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4709159"/>
            <a:ext cx="5760720" cy="1143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A"/>
                </a:solidFill>
                <a:latin typeface="Calibri"/>
              </a:rPr>
              <a:t>Entrega final y sustentación</a:t>
            </a:r>
          </a:p>
          <a:p>
            <a:pPr algn="l">
              <a:lnSpc>
                <a:spcPct val="100000"/>
              </a:lnSpc>
            </a:pPr>
            <a:r>
              <a:rPr sz="2100" b="0">
                <a:solidFill>
                  <a:srgbClr val="2B2B2B"/>
                </a:solidFill>
                <a:latin typeface="Calibri"/>
              </a:rPr>
              <a:t>100 % del software y documentación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709159"/>
            <a:ext cx="3840480" cy="1143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2100" b="1">
                <a:solidFill>
                  <a:srgbClr val="D9480F"/>
                </a:solidFill>
                <a:latin typeface="Calibri"/>
              </a:rPr>
              <a:t>13 de noviembre de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1188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D9480F"/>
                </a:solidFill>
                <a:latin typeface="Calibri"/>
              </a:rPr>
              <a:t>Demostración </a:t>
            </a:r>
            <a:r>
              <a:rPr sz="6600" b="1">
                <a:solidFill>
                  <a:srgbClr val="1A1A1A"/>
                </a:solidFill>
                <a:latin typeface="Calibri"/>
              </a:rPr>
              <a:t>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94560"/>
            <a:ext cx="1051560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1A1A1A"/>
                </a:solidFill>
                <a:latin typeface="Calibri"/>
              </a:rPr>
              <a:t>Del registro del usuario al reporte de ventas, con el sistema funcionando.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383280"/>
            <a:ext cx="5120640" cy="137160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383280"/>
            <a:ext cx="5120640" cy="13716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Calibri"/>
              </a:rPr>
              <a:t>¡Gracias!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3383280"/>
            <a:ext cx="5120640" cy="1371600"/>
          </a:xfrm>
          <a:prstGeom prst="rect">
            <a:avLst/>
          </a:prstGeom>
          <a:solidFill>
            <a:srgbClr val="FFFFFF"/>
          </a:solidFill>
          <a:ln w="381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3383280"/>
            <a:ext cx="5120640" cy="13716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D9480F"/>
                </a:solidFill>
                <a:latin typeface="Calibri"/>
              </a:rPr>
              <a:t>¿Preguntas?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212080"/>
            <a:ext cx="1051560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Código: </a:t>
            </a:r>
            <a:r>
              <a:rPr sz="2200" b="0">
                <a:solidFill>
                  <a:srgbClr val="2B2B2B"/>
                </a:solidFill>
                <a:latin typeface="Calibri"/>
              </a:rPr>
              <a:t>github.com/Angelssjyf/stockpot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