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63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7441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Saludo. Presentamos StockPot, el 70 % del software del 2.º corte: Iteraciones 1, 2 y 4. Cliente: Sexto Sentido Café &amp; Brunch.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Recorrido de la presentación: contexto, producto, gestión, calidad y demostración.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problema: control manual que hace perder insumos y dinero. La solución: un solo sistema web.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sistema completo tiene 11 módulos y 330 puntos de función. En verde lo entregado (8 módulos) y en naranja lo pendiente de la Iteración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 este corte entregamos las Iteraciones 1, 2 y 4: 233 de 330 PF transaccionales (70,6 %); 376 de 515 PF sin ajustar (73 %).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Arquitectura en tres capas. La interfaz es HTML, CSS y JavaScript sin frameworks; la API REST en Flask valida permisos con JWT; los datos viven en MySQL 8.4.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base de datos tiene 19 tablas agrupadas por área. Las cantidades y el dinero se guardan con decimales exactos; los registros no se borran, se inactivan o anulan para conservar la trazabilidad.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seguridad se basa en roles: cada rol tiene permisos de ver o gestionar por módulo. El menú solo muestra lo que el rol puede usar y la API lo vuelve a validar en cada petición.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 que hace cada módulo entregado (parte 1): usuarios, proveedores y compras, inventario y productos.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 que hace cada módulo entregado (parte 2): domicilios, pagos, ventas y reportes.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Este es el recorrido que mostraremos en la demo: compra, receta, pedido, pago, venta (que descuenta inventario) y reportes.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Trabajamos de forma iterativa: una iteración por integrante y un sprint por iteración en Jira. El código se maneja con GitFlow: una rama por requisito que se integra a develop solo si pasan todas las pruebas.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Estimamos el tamaño con puntos de función a partir de los 80 requisitos y la duración de cada tarea con PERT (optimista, más probable y pesimista).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Probamos en varios niveles: unitarias de las reglas de negocio, de integración contra la API, casos funcionales CRUD en la interfaz y criterios de aceptación. Ningún cambio entra a develop si una prueba falla.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documentación y las pruebas siguen estándares de ingeniería de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proyecto en números, para dimensionar el trabajo del 70 %.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 que aprendimos y cómo manejamos los riesgos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Plan del 30 % restante hasta la entrega final del 13 de noviembre.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Abrir iniciar.bat antes de la sustentación. Recorrido: crear usuario, proveedor y compra, inventario, producto con receta, domicilio, cobro en caja, venta y reportes.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6858000" cy="1280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0" b="1">
                <a:solidFill>
                  <a:srgbClr val="D9480F"/>
                </a:solidFill>
                <a:latin typeface="Calibri"/>
              </a:rPr>
              <a:t>StockPot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685800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Calibri"/>
              </a:rPr>
              <a:t>Sistema web de gestión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Calibri"/>
              </a:rPr>
              <a:t>para restaurantes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017520"/>
            <a:ext cx="6035040" cy="685800"/>
          </a:xfrm>
          <a:prstGeom prst="rect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3017520"/>
            <a:ext cx="6035040" cy="6858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Entrega parcial del 70 % — 2.º corte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931920"/>
            <a:ext cx="658368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Ingeniería del Software II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Universidad Simón Bolívar — sede Cúcuta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846320"/>
            <a:ext cx="329184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D9480F"/>
                </a:solidFill>
                <a:latin typeface="Calibri"/>
              </a:rPr>
              <a:t>Docente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Prof. Nataly Duque Páez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846320"/>
            <a:ext cx="356616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D9480F"/>
                </a:solidFill>
                <a:latin typeface="Calibri"/>
              </a:rPr>
              <a:t>Cliente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Sexto Sentido Café &amp; Brunch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806440"/>
            <a:ext cx="64008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Calibri"/>
              </a:rPr>
              <a:t>20 de octubre de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64008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01000" y="640080"/>
            <a:ext cx="3657600" cy="777240"/>
          </a:xfrm>
          <a:prstGeom prst="rect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01000" y="640080"/>
            <a:ext cx="3657600" cy="7772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Equipo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691640"/>
            <a:ext cx="3291840" cy="4297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Ángel David Rodríguez Vega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D9480F"/>
                </a:solidFill>
                <a:latin typeface="Calibri"/>
              </a:rPr>
              <a:t>Líder del proyecto (PM)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Calibri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Andrés Mateo Puentes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D9480F"/>
                </a:solidFill>
                <a:latin typeface="Calibri"/>
              </a:rPr>
              <a:t>Desarrollador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Calibri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Jhorman Caballero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D9480F"/>
                </a:solidFill>
                <a:latin typeface="Calibri"/>
              </a:rPr>
              <a:t>Desarrollador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Calibri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Yovany Peñaranda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D9480F"/>
                </a:solidFill>
                <a:latin typeface="Calibri"/>
              </a:rPr>
              <a:t>Desarrollador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Calibri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D9480F"/>
                </a:solidFill>
                <a:latin typeface="Calibri"/>
              </a:rPr>
              <a:t>Agenda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88720"/>
            <a:ext cx="1810512" cy="0"/>
          </a:xfrm>
          <a:prstGeom prst="line">
            <a:avLst/>
          </a:prstGeom>
          <a:ln w="63500">
            <a:solidFill>
              <a:srgbClr val="D948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548640" y="1554480"/>
            <a:ext cx="777240" cy="77724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777240" cy="7772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554480" y="1554480"/>
            <a:ext cx="10085832" cy="777240"/>
          </a:xfrm>
          <a:prstGeom prst="rect">
            <a:avLst/>
          </a:prstGeom>
          <a:solidFill>
            <a:srgbClr val="FFFFFF"/>
          </a:solidFill>
          <a:ln w="2222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783080" y="1554480"/>
            <a:ext cx="9692640" cy="7772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A1A1A"/>
                </a:solidFill>
                <a:latin typeface="Calibri"/>
              </a:rPr>
              <a:t>El proyecto:  </a:t>
            </a:r>
            <a:r>
              <a:rPr sz="2400" b="0">
                <a:solidFill>
                  <a:srgbClr val="2B2B2B"/>
                </a:solidFill>
                <a:latin typeface="Calibri"/>
              </a:rPr>
              <a:t>problema, objetivos y alcance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487168"/>
            <a:ext cx="777240" cy="77724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487168"/>
            <a:ext cx="777240" cy="7772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2487168"/>
            <a:ext cx="10085832" cy="777240"/>
          </a:xfrm>
          <a:prstGeom prst="rect">
            <a:avLst/>
          </a:prstGeom>
          <a:solidFill>
            <a:srgbClr val="FFFFFF"/>
          </a:solidFill>
          <a:ln w="2222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83080" y="2487168"/>
            <a:ext cx="9692640" cy="7772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A1A1A"/>
                </a:solidFill>
                <a:latin typeface="Calibri"/>
              </a:rPr>
              <a:t>El producto:  </a:t>
            </a:r>
            <a:r>
              <a:rPr sz="2400" b="0">
                <a:solidFill>
                  <a:srgbClr val="2B2B2B"/>
                </a:solidFill>
                <a:latin typeface="Calibri"/>
              </a:rPr>
              <a:t>arquitectura, datos, seguridad y módulos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419856"/>
            <a:ext cx="777240" cy="77724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419856"/>
            <a:ext cx="777240" cy="7772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3419856"/>
            <a:ext cx="10085832" cy="777240"/>
          </a:xfrm>
          <a:prstGeom prst="rect">
            <a:avLst/>
          </a:prstGeom>
          <a:solidFill>
            <a:srgbClr val="FFFFFF"/>
          </a:solidFill>
          <a:ln w="2222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83080" y="3419856"/>
            <a:ext cx="9692640" cy="7772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A1A1A"/>
                </a:solidFill>
                <a:latin typeface="Calibri"/>
              </a:rPr>
              <a:t>La gestión:  </a:t>
            </a:r>
            <a:r>
              <a:rPr sz="2400" b="0">
                <a:solidFill>
                  <a:srgbClr val="2B2B2B"/>
                </a:solidFill>
                <a:latin typeface="Calibri"/>
              </a:rPr>
              <a:t>metodología, Jira, cronograma y estimación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352544"/>
            <a:ext cx="777240" cy="77724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352544"/>
            <a:ext cx="777240" cy="7772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54480" y="4352544"/>
            <a:ext cx="10085832" cy="777240"/>
          </a:xfrm>
          <a:prstGeom prst="rect">
            <a:avLst/>
          </a:prstGeom>
          <a:solidFill>
            <a:srgbClr val="FFFFFF"/>
          </a:solidFill>
          <a:ln w="2222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783080" y="4352544"/>
            <a:ext cx="9692640" cy="7772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A1A1A"/>
                </a:solidFill>
                <a:latin typeface="Calibri"/>
              </a:rPr>
              <a:t>La calidad:  </a:t>
            </a:r>
            <a:r>
              <a:rPr sz="2400" b="0">
                <a:solidFill>
                  <a:srgbClr val="2B2B2B"/>
                </a:solidFill>
                <a:latin typeface="Calibri"/>
              </a:rPr>
              <a:t>pruebas, estándares y cifras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5285232"/>
            <a:ext cx="777240" cy="77724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5285232"/>
            <a:ext cx="777240" cy="7772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" y="5285232"/>
            <a:ext cx="10085832" cy="777240"/>
          </a:xfrm>
          <a:prstGeom prst="rect">
            <a:avLst/>
          </a:prstGeom>
          <a:solidFill>
            <a:srgbClr val="FFFFFF"/>
          </a:solidFill>
          <a:ln w="2222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83080" y="5285232"/>
            <a:ext cx="9692640" cy="7772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A1A1A"/>
                </a:solidFill>
                <a:latin typeface="Calibri"/>
              </a:rPr>
              <a:t>El cierre:  </a:t>
            </a:r>
            <a:r>
              <a:rPr sz="2400" b="0">
                <a:solidFill>
                  <a:srgbClr val="2B2B2B"/>
                </a:solidFill>
                <a:latin typeface="Calibri"/>
              </a:rPr>
              <a:t>lecciones, lo que sigue y demostración en vivo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StockPot · Ingeniería del Software II · Universidad Simón Bolívar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355080"/>
            <a:ext cx="960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2B2B2B"/>
                </a:solidFill>
                <a:latin typeface="Calibri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D9480F"/>
                </a:solidFill>
                <a:latin typeface="Calibri"/>
              </a:rPr>
              <a:t>El problema </a:t>
            </a:r>
            <a:r>
              <a:rPr sz="4000" b="1">
                <a:solidFill>
                  <a:srgbClr val="1A1A1A"/>
                </a:solidFill>
                <a:latin typeface="Calibri"/>
              </a:rPr>
              <a:t>y nuestra solución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88720"/>
            <a:ext cx="1810512" cy="0"/>
          </a:xfrm>
          <a:prstGeom prst="line">
            <a:avLst/>
          </a:prstGeom>
          <a:ln w="63500">
            <a:solidFill>
              <a:srgbClr val="D948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554480"/>
            <a:ext cx="512064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46634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A1A1A"/>
                </a:solidFill>
                <a:latin typeface="Calibri"/>
              </a:rPr>
              <a:t>Hoy en el restaurante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4709160" cy="3657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D9480F"/>
                </a:solidFill>
                <a:latin typeface="Calibri"/>
              </a:rPr>
              <a:t>■  </a:t>
            </a:r>
            <a:r>
              <a:rPr sz="2100" b="0">
                <a:solidFill>
                  <a:srgbClr val="2B2B2B"/>
                </a:solidFill>
                <a:latin typeface="Calibri"/>
              </a:rPr>
              <a:t>Inventario, pedidos y ventas en papel o en hojas de cálculo.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D9480F"/>
                </a:solidFill>
                <a:latin typeface="Calibri"/>
              </a:rPr>
              <a:t>■  </a:t>
            </a:r>
            <a:r>
              <a:rPr sz="2100" b="0">
                <a:solidFill>
                  <a:srgbClr val="2B2B2B"/>
                </a:solidFill>
                <a:latin typeface="Calibri"/>
              </a:rPr>
              <a:t>Se pierden insumos y se compra de más.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D9480F"/>
                </a:solidFill>
                <a:latin typeface="Calibri"/>
              </a:rPr>
              <a:t>■  </a:t>
            </a:r>
            <a:r>
              <a:rPr sz="2100" b="0">
                <a:solidFill>
                  <a:srgbClr val="2B2B2B"/>
                </a:solidFill>
                <a:latin typeface="Calibri"/>
              </a:rPr>
              <a:t>No se conoce el costo real de cada plato.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D9480F"/>
                </a:solidFill>
                <a:latin typeface="Calibri"/>
              </a:rPr>
              <a:t>■  </a:t>
            </a:r>
            <a:r>
              <a:rPr sz="2100" b="0">
                <a:solidFill>
                  <a:srgbClr val="2B2B2B"/>
                </a:solidFill>
                <a:latin typeface="Calibri"/>
              </a:rPr>
              <a:t>Los domicilios y pagos se anotan a mano.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D9480F"/>
                </a:solidFill>
                <a:latin typeface="Calibri"/>
              </a:rPr>
              <a:t>■  </a:t>
            </a:r>
            <a:r>
              <a:rPr sz="2100" b="0">
                <a:solidFill>
                  <a:srgbClr val="2B2B2B"/>
                </a:solidFill>
                <a:latin typeface="Calibri"/>
              </a:rPr>
              <a:t>No hay datos confiables para decidir.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852160" y="3429000"/>
            <a:ext cx="685800" cy="822960"/>
          </a:xfrm>
          <a:prstGeom prst="rightArrow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720840" y="1554480"/>
            <a:ext cx="4937760" cy="4572000"/>
          </a:xfrm>
          <a:prstGeom prst="rect">
            <a:avLst/>
          </a:prstGeom>
          <a:solidFill>
            <a:srgbClr val="FFFFFF"/>
          </a:solidFill>
          <a:ln w="3810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720840" y="1554480"/>
            <a:ext cx="4937760" cy="731520"/>
          </a:xfrm>
          <a:prstGeom prst="rect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20840" y="1554480"/>
            <a:ext cx="4937760" cy="7315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StockPot lo une todo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468880"/>
            <a:ext cx="4572000" cy="3566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D9480F"/>
                </a:solidFill>
                <a:latin typeface="Calibri"/>
              </a:rPr>
              <a:t>■  </a:t>
            </a:r>
            <a:r>
              <a:rPr sz="2100" b="1">
                <a:solidFill>
                  <a:srgbClr val="1A1A1A"/>
                </a:solidFill>
                <a:latin typeface="Calibri"/>
              </a:rPr>
              <a:t>Inventario </a:t>
            </a:r>
            <a:r>
              <a:rPr sz="2100" b="0">
                <a:solidFill>
                  <a:srgbClr val="2B2B2B"/>
                </a:solidFill>
                <a:latin typeface="Calibri"/>
              </a:rPr>
              <a:t>con alertas de stock mínimo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D9480F"/>
                </a:solidFill>
                <a:latin typeface="Calibri"/>
              </a:rPr>
              <a:t>■  </a:t>
            </a:r>
            <a:r>
              <a:rPr sz="2100" b="1">
                <a:solidFill>
                  <a:srgbClr val="1A1A1A"/>
                </a:solidFill>
                <a:latin typeface="Calibri"/>
              </a:rPr>
              <a:t>Recetas </a:t>
            </a:r>
            <a:r>
              <a:rPr sz="2100" b="0">
                <a:solidFill>
                  <a:srgbClr val="2B2B2B"/>
                </a:solidFill>
                <a:latin typeface="Calibri"/>
              </a:rPr>
              <a:t>que calculan el costo de cada plato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D9480F"/>
                </a:solidFill>
                <a:latin typeface="Calibri"/>
              </a:rPr>
              <a:t>■  </a:t>
            </a:r>
            <a:r>
              <a:rPr sz="2100" b="1">
                <a:solidFill>
                  <a:srgbClr val="1A1A1A"/>
                </a:solidFill>
                <a:latin typeface="Calibri"/>
              </a:rPr>
              <a:t>Domicilios y pagos </a:t>
            </a:r>
            <a:r>
              <a:rPr sz="2100" b="0">
                <a:solidFill>
                  <a:srgbClr val="2B2B2B"/>
                </a:solidFill>
                <a:latin typeface="Calibri"/>
              </a:rPr>
              <a:t>con estados y comprobante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D9480F"/>
                </a:solidFill>
                <a:latin typeface="Calibri"/>
              </a:rPr>
              <a:t>■  </a:t>
            </a:r>
            <a:r>
              <a:rPr sz="2100" b="1">
                <a:solidFill>
                  <a:srgbClr val="1A1A1A"/>
                </a:solidFill>
                <a:latin typeface="Calibri"/>
              </a:rPr>
              <a:t>Ventas </a:t>
            </a:r>
            <a:r>
              <a:rPr sz="2100" b="0">
                <a:solidFill>
                  <a:srgbClr val="2B2B2B"/>
                </a:solidFill>
                <a:latin typeface="Calibri"/>
              </a:rPr>
              <a:t>que descuentan inventario solas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D9480F"/>
                </a:solidFill>
                <a:latin typeface="Calibri"/>
              </a:rPr>
              <a:t>■  </a:t>
            </a:r>
            <a:r>
              <a:rPr sz="2100" b="1">
                <a:solidFill>
                  <a:srgbClr val="1A1A1A"/>
                </a:solidFill>
                <a:latin typeface="Calibri"/>
              </a:rPr>
              <a:t>Reportes </a:t>
            </a:r>
            <a:r>
              <a:rPr sz="2100" b="0">
                <a:solidFill>
                  <a:srgbClr val="2B2B2B"/>
                </a:solidFill>
                <a:latin typeface="Calibri"/>
              </a:rPr>
              <a:t>para tomar decisiones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StockPot · Ingeniería del Software II · Universidad Simón Bolívar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355080"/>
            <a:ext cx="960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2B2B2B"/>
                </a:solidFill>
                <a:latin typeface="Calibri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18">
            <a:extLst>
              <a:ext uri="{FF2B5EF4-FFF2-40B4-BE49-F238E27FC236}">
                <a16:creationId xmlns:a16="http://schemas.microsoft.com/office/drawing/2014/main" id="{4A2B91F5-50FB-E1B2-FE7E-4EFB5B5966DF}"/>
              </a:ext>
            </a:extLst>
          </p:cNvPr>
          <p:cNvSpPr/>
          <p:nvPr/>
        </p:nvSpPr>
        <p:spPr>
          <a:xfrm>
            <a:off x="548640" y="4598356"/>
            <a:ext cx="544068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1B6E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D9480F"/>
                </a:solidFill>
                <a:latin typeface="Calibri"/>
              </a:rPr>
              <a:t>Los 11 módulos </a:t>
            </a:r>
            <a:r>
              <a:rPr sz="4000" b="1">
                <a:solidFill>
                  <a:srgbClr val="1A1A1A"/>
                </a:solidFill>
                <a:latin typeface="Calibri"/>
              </a:rPr>
              <a:t>y su avance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88720"/>
            <a:ext cx="1810512" cy="0"/>
          </a:xfrm>
          <a:prstGeom prst="line">
            <a:avLst/>
          </a:prstGeom>
          <a:ln w="63500">
            <a:solidFill>
              <a:srgbClr val="D948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508760"/>
            <a:ext cx="544068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1B6E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508760"/>
            <a:ext cx="3383280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D9480F"/>
                </a:solidFill>
                <a:latin typeface="Calibri"/>
              </a:rPr>
              <a:t>1. </a:t>
            </a:r>
            <a:r>
              <a:rPr sz="2000" b="1">
                <a:solidFill>
                  <a:srgbClr val="1A1A1A"/>
                </a:solidFill>
                <a:latin typeface="Calibri"/>
              </a:rPr>
              <a:t>Usuarios y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508760"/>
            <a:ext cx="868680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2B2B2B"/>
                </a:solidFill>
                <a:latin typeface="Calibri"/>
              </a:rPr>
              <a:t>21 PF</a:t>
            </a:r>
          </a:p>
        </p:txBody>
      </p:sp>
      <p:sp>
        <p:nvSpPr>
          <p:cNvPr id="7" name="Rectangle 6"/>
          <p:cNvSpPr/>
          <p:nvPr/>
        </p:nvSpPr>
        <p:spPr>
          <a:xfrm>
            <a:off x="4800600" y="1618488"/>
            <a:ext cx="1097280" cy="438912"/>
          </a:xfrm>
          <a:prstGeom prst="rect">
            <a:avLst/>
          </a:prstGeom>
          <a:solidFill>
            <a:srgbClr val="1B6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618488"/>
            <a:ext cx="109728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Listo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76856"/>
            <a:ext cx="544068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1B6E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2276856"/>
            <a:ext cx="3383280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D9480F"/>
                </a:solidFill>
                <a:latin typeface="Calibri"/>
              </a:rPr>
              <a:t>2. </a:t>
            </a:r>
            <a:r>
              <a:rPr sz="2000" b="1">
                <a:solidFill>
                  <a:srgbClr val="1A1A1A"/>
                </a:solidFill>
                <a:latin typeface="Calibri"/>
              </a:rPr>
              <a:t>Proveedores y compras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276856"/>
            <a:ext cx="868680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2B2B2B"/>
                </a:solidFill>
                <a:latin typeface="Calibri"/>
              </a:rPr>
              <a:t>34 PF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2386584"/>
            <a:ext cx="1097280" cy="438912"/>
          </a:xfrm>
          <a:prstGeom prst="rect">
            <a:avLst/>
          </a:prstGeom>
          <a:solidFill>
            <a:srgbClr val="1B6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0600" y="2386584"/>
            <a:ext cx="109728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Listo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44952"/>
            <a:ext cx="544068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1B6E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3044952"/>
            <a:ext cx="3383280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D9480F"/>
                </a:solidFill>
                <a:latin typeface="Calibri"/>
              </a:rPr>
              <a:t>3. </a:t>
            </a:r>
            <a:r>
              <a:rPr sz="2000" b="1">
                <a:solidFill>
                  <a:srgbClr val="1A1A1A"/>
                </a:solidFill>
                <a:latin typeface="Calibri"/>
              </a:rPr>
              <a:t>Inventario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044952"/>
            <a:ext cx="868680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2B2B2B"/>
                </a:solidFill>
                <a:latin typeface="Calibri"/>
              </a:rPr>
              <a:t>36 PF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0600" y="3154680"/>
            <a:ext cx="1097280" cy="438912"/>
          </a:xfrm>
          <a:prstGeom prst="rect">
            <a:avLst/>
          </a:prstGeom>
          <a:solidFill>
            <a:srgbClr val="1B6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00600" y="3154680"/>
            <a:ext cx="109728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Listo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13048"/>
            <a:ext cx="544068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1B6E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3813048"/>
            <a:ext cx="3383280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D9480F"/>
                </a:solidFill>
                <a:latin typeface="Calibri"/>
              </a:rPr>
              <a:t>4. </a:t>
            </a:r>
            <a:r>
              <a:rPr sz="2000" b="1">
                <a:solidFill>
                  <a:srgbClr val="1A1A1A"/>
                </a:solidFill>
                <a:latin typeface="Calibri"/>
              </a:rPr>
              <a:t>Productos y menú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813048"/>
            <a:ext cx="868680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2B2B2B"/>
                </a:solidFill>
                <a:latin typeface="Calibri"/>
              </a:rPr>
              <a:t>23 PF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00600" y="3922776"/>
            <a:ext cx="1097280" cy="438912"/>
          </a:xfrm>
          <a:prstGeom prst="rect">
            <a:avLst/>
          </a:prstGeom>
          <a:solidFill>
            <a:srgbClr val="1B6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00600" y="3958276"/>
            <a:ext cx="109728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dirty="0">
                <a:solidFill>
                  <a:srgbClr val="FFFFFF"/>
                </a:solidFill>
                <a:latin typeface="Calibri"/>
              </a:rPr>
              <a:t>Listo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581144"/>
            <a:ext cx="3383280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D9480F"/>
                </a:solidFill>
                <a:latin typeface="Calibri"/>
              </a:rPr>
              <a:t>5. </a:t>
            </a:r>
            <a:r>
              <a:rPr sz="2000" b="1">
                <a:solidFill>
                  <a:srgbClr val="1A1A1A"/>
                </a:solidFill>
                <a:latin typeface="Calibri"/>
              </a:rPr>
              <a:t>Pedidos en mesa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581144"/>
            <a:ext cx="868680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2B2B2B"/>
                </a:solidFill>
                <a:latin typeface="Calibri"/>
              </a:rPr>
              <a:t>42 PF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349240"/>
            <a:ext cx="544068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" y="5349240"/>
            <a:ext cx="3383280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D9480F"/>
                </a:solidFill>
                <a:latin typeface="Calibri"/>
              </a:rPr>
              <a:t>6. </a:t>
            </a:r>
            <a:r>
              <a:rPr sz="2000" b="1">
                <a:solidFill>
                  <a:srgbClr val="1A1A1A"/>
                </a:solidFill>
                <a:latin typeface="Calibri"/>
              </a:rPr>
              <a:t>Cocina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5349240"/>
            <a:ext cx="868680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2B2B2B"/>
                </a:solidFill>
                <a:latin typeface="Calibri"/>
              </a:rPr>
              <a:t>26 PF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00600" y="5458968"/>
            <a:ext cx="1097280" cy="438912"/>
          </a:xfrm>
          <a:prstGeom prst="rect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00600" y="5458968"/>
            <a:ext cx="109728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Pendiente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1508760"/>
            <a:ext cx="544068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81928" y="1508760"/>
            <a:ext cx="3383280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D9480F"/>
                </a:solidFill>
                <a:latin typeface="Calibri"/>
              </a:rPr>
              <a:t>7. </a:t>
            </a:r>
            <a:r>
              <a:rPr sz="2000" b="1">
                <a:solidFill>
                  <a:srgbClr val="1A1A1A"/>
                </a:solidFill>
                <a:latin typeface="Calibri"/>
              </a:rPr>
              <a:t>Reservas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1508760"/>
            <a:ext cx="868680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2B2B2B"/>
                </a:solidFill>
                <a:latin typeface="Calibri"/>
              </a:rPr>
              <a:t>29 PF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424160" y="1618488"/>
            <a:ext cx="1097280" cy="438912"/>
          </a:xfrm>
          <a:prstGeom prst="rect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424160" y="1618488"/>
            <a:ext cx="109728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dirty="0" err="1">
                <a:solidFill>
                  <a:srgbClr val="FFFFFF"/>
                </a:solidFill>
                <a:latin typeface="Calibri"/>
              </a:rPr>
              <a:t>Pendiente</a:t>
            </a:r>
            <a:endParaRPr sz="16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172200" y="2276856"/>
            <a:ext cx="544068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1B6E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81928" y="2276856"/>
            <a:ext cx="3383280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D9480F"/>
                </a:solidFill>
                <a:latin typeface="Calibri"/>
              </a:rPr>
              <a:t>8. </a:t>
            </a:r>
            <a:r>
              <a:rPr sz="2000" b="1">
                <a:solidFill>
                  <a:srgbClr val="1A1A1A"/>
                </a:solidFill>
                <a:latin typeface="Calibri"/>
              </a:rPr>
              <a:t>Domicilios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64040" y="2276856"/>
            <a:ext cx="868680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2B2B2B"/>
                </a:solidFill>
                <a:latin typeface="Calibri"/>
              </a:rPr>
              <a:t>33 PF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424160" y="2386584"/>
            <a:ext cx="1097280" cy="438912"/>
          </a:xfrm>
          <a:prstGeom prst="rect">
            <a:avLst/>
          </a:prstGeom>
          <a:solidFill>
            <a:srgbClr val="1B6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424160" y="2386584"/>
            <a:ext cx="109728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Listo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72200" y="3044952"/>
            <a:ext cx="544068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1B6E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81928" y="3044952"/>
            <a:ext cx="3383280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D9480F"/>
                </a:solidFill>
                <a:latin typeface="Calibri"/>
              </a:rPr>
              <a:t>9. </a:t>
            </a:r>
            <a:r>
              <a:rPr sz="2000" b="1">
                <a:solidFill>
                  <a:srgbClr val="1A1A1A"/>
                </a:solidFill>
                <a:latin typeface="Calibri"/>
              </a:rPr>
              <a:t>Pagos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64040" y="3044952"/>
            <a:ext cx="868680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2B2B2B"/>
                </a:solidFill>
                <a:latin typeface="Calibri"/>
              </a:rPr>
              <a:t>29 PF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424160" y="3154680"/>
            <a:ext cx="1097280" cy="438912"/>
          </a:xfrm>
          <a:prstGeom prst="rect">
            <a:avLst/>
          </a:prstGeom>
          <a:solidFill>
            <a:srgbClr val="1B6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424160" y="3154680"/>
            <a:ext cx="109728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Listo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72200" y="3813048"/>
            <a:ext cx="544068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1B6E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81928" y="3813048"/>
            <a:ext cx="3383280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D9480F"/>
                </a:solidFill>
                <a:latin typeface="Calibri"/>
              </a:rPr>
              <a:t>10. </a:t>
            </a:r>
            <a:r>
              <a:rPr sz="2000" b="1">
                <a:solidFill>
                  <a:srgbClr val="1A1A1A"/>
                </a:solidFill>
                <a:latin typeface="Calibri"/>
              </a:rPr>
              <a:t>Ventas y consumo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64040" y="3813048"/>
            <a:ext cx="868680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2B2B2B"/>
                </a:solidFill>
                <a:latin typeface="Calibri"/>
              </a:rPr>
              <a:t>26 PF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424160" y="3922776"/>
            <a:ext cx="1097280" cy="438912"/>
          </a:xfrm>
          <a:prstGeom prst="rect">
            <a:avLst/>
          </a:prstGeom>
          <a:solidFill>
            <a:srgbClr val="1B6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424160" y="3922776"/>
            <a:ext cx="109728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Listo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72200" y="4581144"/>
            <a:ext cx="544068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1B6E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281928" y="4581144"/>
            <a:ext cx="3383280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D9480F"/>
                </a:solidFill>
                <a:latin typeface="Calibri"/>
              </a:rPr>
              <a:t>11. </a:t>
            </a:r>
            <a:r>
              <a:rPr sz="2000" b="1">
                <a:solidFill>
                  <a:srgbClr val="1A1A1A"/>
                </a:solidFill>
                <a:latin typeface="Calibri"/>
              </a:rPr>
              <a:t>Reportes y estadísticas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64040" y="4581144"/>
            <a:ext cx="868680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2B2B2B"/>
                </a:solidFill>
                <a:latin typeface="Calibri"/>
              </a:rPr>
              <a:t>31 PF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24160" y="4690872"/>
            <a:ext cx="1097280" cy="438912"/>
          </a:xfrm>
          <a:prstGeom prst="rect">
            <a:avLst/>
          </a:prstGeom>
          <a:solidFill>
            <a:srgbClr val="1B6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424160" y="4690872"/>
            <a:ext cx="109728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Listo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72200" y="5349240"/>
            <a:ext cx="5440680" cy="658368"/>
          </a:xfrm>
          <a:prstGeom prst="rect">
            <a:avLst/>
          </a:prstGeom>
          <a:solidFill>
            <a:srgbClr val="FFF1EA"/>
          </a:solidFill>
          <a:ln w="2540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172200" y="5349240"/>
            <a:ext cx="5440680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Total: 330 PF  ·  </a:t>
            </a:r>
            <a:r>
              <a:rPr sz="2200" b="1">
                <a:solidFill>
                  <a:srgbClr val="1B6E2F"/>
                </a:solidFill>
                <a:latin typeface="Calibri"/>
              </a:rPr>
              <a:t>233 entregados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StockPot · Ingeniería del Software II · Universidad Simón Bolívar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98480" y="6355080"/>
            <a:ext cx="960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2B2B2B"/>
                </a:solidFill>
                <a:latin typeface="Calibri"/>
              </a:rPr>
              <a:t>5 / 20</a:t>
            </a:r>
          </a:p>
        </p:txBody>
      </p:sp>
      <p:sp>
        <p:nvSpPr>
          <p:cNvPr id="68" name="Rectangle 21">
            <a:extLst>
              <a:ext uri="{FF2B5EF4-FFF2-40B4-BE49-F238E27FC236}">
                <a16:creationId xmlns:a16="http://schemas.microsoft.com/office/drawing/2014/main" id="{95B9CB90-8960-A42E-06DC-78B4124FCACE}"/>
              </a:ext>
            </a:extLst>
          </p:cNvPr>
          <p:cNvSpPr/>
          <p:nvPr/>
        </p:nvSpPr>
        <p:spPr>
          <a:xfrm>
            <a:off x="4818888" y="4709160"/>
            <a:ext cx="1097280" cy="438912"/>
          </a:xfrm>
          <a:prstGeom prst="rect">
            <a:avLst/>
          </a:prstGeom>
          <a:solidFill>
            <a:srgbClr val="1B6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s-CO" b="1">
                <a:solidFill>
                  <a:srgbClr val="FFFFFF"/>
                </a:solidFill>
              </a:rPr>
              <a:t>Listo</a:t>
            </a:r>
            <a:endParaRPr lang="es-CO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D9480F"/>
                </a:solidFill>
                <a:latin typeface="Calibri"/>
              </a:rPr>
              <a:t>Alcance: </a:t>
            </a:r>
            <a:r>
              <a:rPr sz="4000" b="1">
                <a:solidFill>
                  <a:srgbClr val="1A1A1A"/>
                </a:solidFill>
                <a:latin typeface="Calibri"/>
              </a:rPr>
              <a:t>70 % entregado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88720"/>
            <a:ext cx="1810512" cy="0"/>
          </a:xfrm>
          <a:prstGeom prst="line">
            <a:avLst/>
          </a:prstGeom>
          <a:ln w="63500">
            <a:solidFill>
              <a:srgbClr val="D948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508760"/>
            <a:ext cx="3520440" cy="2103120"/>
          </a:xfrm>
          <a:prstGeom prst="rect">
            <a:avLst/>
          </a:prstGeom>
          <a:solidFill>
            <a:srgbClr val="FFFFFF"/>
          </a:solidFill>
          <a:ln w="2857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3520440" cy="11567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0" b="1">
                <a:solidFill>
                  <a:srgbClr val="D9480F"/>
                </a:solidFill>
                <a:latin typeface="Calibri"/>
              </a:rPr>
              <a:t>233 / 330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28569"/>
            <a:ext cx="3300984" cy="8412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1A1A1A"/>
                </a:solidFill>
                <a:latin typeface="Calibri"/>
              </a:rPr>
              <a:t>puntos de función (70,6 %)</a:t>
            </a:r>
          </a:p>
        </p:txBody>
      </p:sp>
      <p:sp>
        <p:nvSpPr>
          <p:cNvPr id="7" name="Rectangle 6"/>
          <p:cNvSpPr/>
          <p:nvPr/>
        </p:nvSpPr>
        <p:spPr>
          <a:xfrm>
            <a:off x="4334256" y="1508760"/>
            <a:ext cx="3520440" cy="2103120"/>
          </a:xfrm>
          <a:prstGeom prst="rect">
            <a:avLst/>
          </a:prstGeom>
          <a:solidFill>
            <a:srgbClr val="FFFFFF"/>
          </a:solidFill>
          <a:ln w="2857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34256" y="1600200"/>
            <a:ext cx="3520440" cy="11567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0" b="1">
                <a:solidFill>
                  <a:srgbClr val="D9480F"/>
                </a:solidFill>
                <a:latin typeface="Calibri"/>
              </a:rPr>
              <a:t>8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984" y="2728569"/>
            <a:ext cx="3300984" cy="8412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1A1A1A"/>
                </a:solidFill>
                <a:latin typeface="Calibri"/>
              </a:rPr>
              <a:t>módulos funcionando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9872" y="1508760"/>
            <a:ext cx="3520440" cy="2103120"/>
          </a:xfrm>
          <a:prstGeom prst="rect">
            <a:avLst/>
          </a:prstGeom>
          <a:solidFill>
            <a:srgbClr val="FFFFFF"/>
          </a:solidFill>
          <a:ln w="2857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19872" y="1600200"/>
            <a:ext cx="3520440" cy="11567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0" b="1">
                <a:solidFill>
                  <a:srgbClr val="D9480F"/>
                </a:solidFill>
                <a:latin typeface="Calibri"/>
              </a:rPr>
              <a:t>56 / 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728569"/>
            <a:ext cx="3300984" cy="8412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1A1A1A"/>
                </a:solidFill>
                <a:latin typeface="Calibri"/>
              </a:rPr>
              <a:t>requisitos funcionales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40480"/>
            <a:ext cx="1106424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Calibri"/>
              </a:rPr>
              <a:t>Avance del software en puntos de función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343400"/>
            <a:ext cx="11091672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4343400"/>
            <a:ext cx="7830720" cy="822960"/>
          </a:xfrm>
          <a:prstGeom prst="rect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343400"/>
            <a:ext cx="7830720" cy="8229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70,6 % entregado — Iteraciones 1, 2 y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9360" y="4343400"/>
            <a:ext cx="3260951" cy="8229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Calibri"/>
              </a:rPr>
              <a:t>29,4 % — Iteración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D9480F"/>
                </a:solidFill>
                <a:latin typeface="Calibri"/>
              </a:rPr>
              <a:t>■  </a:t>
            </a:r>
            <a:r>
              <a:rPr sz="2000" b="1">
                <a:solidFill>
                  <a:srgbClr val="1A1A1A"/>
                </a:solidFill>
                <a:latin typeface="Calibri"/>
              </a:rPr>
              <a:t>Pendiente: </a:t>
            </a:r>
            <a:r>
              <a:rPr sz="2000" b="0">
                <a:solidFill>
                  <a:srgbClr val="2B2B2B"/>
                </a:solidFill>
                <a:latin typeface="Calibri"/>
              </a:rPr>
              <a:t>pedidos en mesa, cocina y reservas, para la entrega final del 13/11/2026.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StockPot · Ingeniería del Software II · Universidad Simón Bolívar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355080"/>
            <a:ext cx="960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2B2B2B"/>
                </a:solidFill>
                <a:latin typeface="Calibri"/>
              </a:rPr>
              <a:t>6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D9480F"/>
                </a:solidFill>
                <a:latin typeface="Calibri"/>
              </a:rPr>
              <a:t>Arquitectura </a:t>
            </a:r>
            <a:r>
              <a:rPr sz="4000" b="1">
                <a:solidFill>
                  <a:srgbClr val="1A1A1A"/>
                </a:solidFill>
                <a:latin typeface="Calibri"/>
              </a:rPr>
              <a:t>y tecnología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88720"/>
            <a:ext cx="1810512" cy="0"/>
          </a:xfrm>
          <a:prstGeom prst="line">
            <a:avLst/>
          </a:prstGeom>
          <a:ln w="63500">
            <a:solidFill>
              <a:srgbClr val="D948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508760"/>
            <a:ext cx="3246120" cy="2697480"/>
          </a:xfrm>
          <a:prstGeom prst="rect">
            <a:avLst/>
          </a:prstGeom>
          <a:solidFill>
            <a:srgbClr val="FFFFFF"/>
          </a:solidFill>
          <a:ln w="3175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3246120" cy="640080"/>
          </a:xfrm>
          <a:prstGeom prst="rect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324612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Página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3063240" cy="187451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1A1A1A"/>
                </a:solidFill>
                <a:latin typeface="Calibri"/>
              </a:rPr>
              <a:t>HTML · CSS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1A1A1A"/>
                </a:solidFill>
                <a:latin typeface="Calibri"/>
              </a:rPr>
              <a:t>JavaScript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1A1A1A"/>
                </a:solidFill>
                <a:latin typeface="Calibri"/>
              </a:rPr>
              <a:t>12 pantallas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858768" y="2514600"/>
            <a:ext cx="457200" cy="640080"/>
          </a:xfrm>
          <a:prstGeom prst="rightArrow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508760"/>
            <a:ext cx="3246120" cy="2697480"/>
          </a:xfrm>
          <a:prstGeom prst="rect">
            <a:avLst/>
          </a:prstGeom>
          <a:solidFill>
            <a:srgbClr val="FFFFFF"/>
          </a:solidFill>
          <a:ln w="3175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508760"/>
            <a:ext cx="3246120" cy="640080"/>
          </a:xfrm>
          <a:prstGeom prst="rect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1508760"/>
            <a:ext cx="324612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API 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240280"/>
            <a:ext cx="3063240" cy="187451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1A1A1A"/>
                </a:solidFill>
                <a:latin typeface="Calibri"/>
              </a:rPr>
              <a:t>Flask (Python)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1A1A1A"/>
                </a:solidFill>
                <a:latin typeface="Calibri"/>
              </a:rPr>
              <a:t>Token JWT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1A1A1A"/>
                </a:solidFill>
                <a:latin typeface="Calibri"/>
              </a:rPr>
              <a:t>≈ 61 rutas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699248" y="2514600"/>
            <a:ext cx="457200" cy="640080"/>
          </a:xfrm>
          <a:prstGeom prst="rightArrow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1508760"/>
            <a:ext cx="3246120" cy="2697480"/>
          </a:xfrm>
          <a:prstGeom prst="rect">
            <a:avLst/>
          </a:prstGeom>
          <a:solidFill>
            <a:srgbClr val="FFFFFF"/>
          </a:solidFill>
          <a:ln w="3175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508760"/>
            <a:ext cx="3246120" cy="640080"/>
          </a:xfrm>
          <a:prstGeom prst="rect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508760"/>
            <a:ext cx="324612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Base de 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240280"/>
            <a:ext cx="3063240" cy="187451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1A1A1A"/>
                </a:solidFill>
                <a:latin typeface="Calibri"/>
              </a:rPr>
              <a:t>MySQL 8.4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1A1A1A"/>
                </a:solidFill>
                <a:latin typeface="Calibri"/>
              </a:rPr>
              <a:t>SQLAlchemy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1A1A1A"/>
                </a:solidFill>
                <a:latin typeface="Calibri"/>
              </a:rPr>
              <a:t>19 tablas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97680"/>
            <a:ext cx="110642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2B2B2B"/>
                </a:solidFill>
                <a:latin typeface="Calibri"/>
              </a:rPr>
              <a:t>HTTP + JSON  →  validación y reglas de negocio  →  SQL transaccional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92040"/>
            <a:ext cx="2651760" cy="1188720"/>
          </a:xfrm>
          <a:prstGeom prst="rect">
            <a:avLst/>
          </a:prstGeom>
          <a:solidFill>
            <a:srgbClr val="FFFFFF"/>
          </a:solidFill>
          <a:ln w="222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892040"/>
            <a:ext cx="2651760" cy="11887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1A1A1A"/>
                </a:solidFill>
                <a:latin typeface="Calibri"/>
              </a:rPr>
              <a:t>Servidor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D9480F"/>
                </a:solidFill>
                <a:latin typeface="Calibri"/>
              </a:rPr>
              <a:t>Waitress (producción)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64992" y="4892040"/>
            <a:ext cx="2651760" cy="1188720"/>
          </a:xfrm>
          <a:prstGeom prst="rect">
            <a:avLst/>
          </a:prstGeom>
          <a:solidFill>
            <a:srgbClr val="FFFFFF"/>
          </a:solidFill>
          <a:ln w="222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64992" y="4892040"/>
            <a:ext cx="2651760" cy="11887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1A1A1A"/>
                </a:solidFill>
                <a:latin typeface="Calibri"/>
              </a:rPr>
              <a:t>Acceso remoto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D9480F"/>
                </a:solidFill>
                <a:latin typeface="Calibri"/>
              </a:rPr>
              <a:t>enlace público ngrok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1344" y="4892040"/>
            <a:ext cx="2651760" cy="1188720"/>
          </a:xfrm>
          <a:prstGeom prst="rect">
            <a:avLst/>
          </a:prstGeom>
          <a:solidFill>
            <a:srgbClr val="FFFFFF"/>
          </a:solidFill>
          <a:ln w="222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81344" y="4892040"/>
            <a:ext cx="2651760" cy="11887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1A1A1A"/>
                </a:solidFill>
                <a:latin typeface="Calibri"/>
              </a:rPr>
              <a:t>Versiones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D9480F"/>
                </a:solidFill>
                <a:latin typeface="Calibri"/>
              </a:rPr>
              <a:t>Git + GitHub (GitFlow)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97696" y="4892040"/>
            <a:ext cx="2651760" cy="1188720"/>
          </a:xfrm>
          <a:prstGeom prst="rect">
            <a:avLst/>
          </a:prstGeom>
          <a:solidFill>
            <a:srgbClr val="FFFFFF"/>
          </a:solidFill>
          <a:ln w="222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97696" y="4892040"/>
            <a:ext cx="2651760" cy="11887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1A1A1A"/>
                </a:solidFill>
                <a:latin typeface="Calibri"/>
              </a:rPr>
              <a:t>Pruebas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D9480F"/>
                </a:solidFill>
                <a:latin typeface="Calibri"/>
              </a:rPr>
              <a:t>pytest + SQLite en memoria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StockPot · Ingeniería del Software II · Universidad Simón Bolívar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355080"/>
            <a:ext cx="960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2B2B2B"/>
                </a:solidFill>
                <a:latin typeface="Calibri"/>
              </a:rPr>
              <a:t>7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D9480F"/>
                </a:solidFill>
                <a:latin typeface="Calibri"/>
              </a:rPr>
              <a:t>Base de datos: </a:t>
            </a:r>
            <a:r>
              <a:rPr sz="4000" b="1">
                <a:solidFill>
                  <a:srgbClr val="1A1A1A"/>
                </a:solidFill>
                <a:latin typeface="Calibri"/>
              </a:rPr>
              <a:t>19 tablas en MySQL 8.4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88720"/>
            <a:ext cx="1810512" cy="0"/>
          </a:xfrm>
          <a:prstGeom prst="line">
            <a:avLst/>
          </a:prstGeom>
          <a:ln w="63500">
            <a:solidFill>
              <a:srgbClr val="D948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508760"/>
            <a:ext cx="2377440" cy="3337560"/>
          </a:xfrm>
          <a:prstGeom prst="rect">
            <a:avLst/>
          </a:prstGeom>
          <a:solidFill>
            <a:srgbClr val="FFFFFF"/>
          </a:solidFill>
          <a:ln w="2857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2377440" cy="594360"/>
          </a:xfrm>
          <a:prstGeom prst="rect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2377440" cy="5943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Seguridad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94560"/>
            <a:ext cx="2157984" cy="2606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roles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permisos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rol_permisos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usuarios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72384" y="1508760"/>
            <a:ext cx="3246120" cy="3337560"/>
          </a:xfrm>
          <a:prstGeom prst="rect">
            <a:avLst/>
          </a:prstGeom>
          <a:solidFill>
            <a:srgbClr val="FFFFFF"/>
          </a:solidFill>
          <a:ln w="2857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072384" y="1508760"/>
            <a:ext cx="3246120" cy="594360"/>
          </a:xfrm>
          <a:prstGeom prst="rect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72384" y="1508760"/>
            <a:ext cx="3246120" cy="5943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Compras e inventario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2112" y="2194560"/>
            <a:ext cx="3026663" cy="2606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proveedores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proveedor_insumos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ordenes_compra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detalle_orden_compra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insumos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movimientos_inventario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64808" y="1508760"/>
            <a:ext cx="2103120" cy="3337560"/>
          </a:xfrm>
          <a:prstGeom prst="rect">
            <a:avLst/>
          </a:prstGeom>
          <a:solidFill>
            <a:srgbClr val="FFFFFF"/>
          </a:solidFill>
          <a:ln w="2857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64808" y="1508760"/>
            <a:ext cx="2103120" cy="594360"/>
          </a:xfrm>
          <a:prstGeom prst="rect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8" y="1508760"/>
            <a:ext cx="2103120" cy="5943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Menú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4536" y="2194560"/>
            <a:ext cx="1883663" cy="2606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productos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recetas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14232" y="1508760"/>
            <a:ext cx="2926080" cy="3337560"/>
          </a:xfrm>
          <a:prstGeom prst="rect">
            <a:avLst/>
          </a:prstGeom>
          <a:solidFill>
            <a:srgbClr val="FFFFFF"/>
          </a:solidFill>
          <a:ln w="2857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714232" y="1508760"/>
            <a:ext cx="2926080" cy="594360"/>
          </a:xfrm>
          <a:prstGeom prst="rect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14232" y="1508760"/>
            <a:ext cx="2926080" cy="5943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Pedidos, pagos y ventas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194560"/>
            <a:ext cx="2706624" cy="2606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clientes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ordenes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detalle_ordenes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domicilios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pagos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ventas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consumos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029200"/>
            <a:ext cx="11064240" cy="1188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D9480F"/>
                </a:solidFill>
                <a:latin typeface="Calibri"/>
              </a:rPr>
              <a:t>■  </a:t>
            </a:r>
            <a:r>
              <a:rPr sz="1900" b="1">
                <a:solidFill>
                  <a:srgbClr val="1A1A1A"/>
                </a:solidFill>
                <a:latin typeface="Calibri"/>
              </a:rPr>
              <a:t>Integridad: </a:t>
            </a:r>
            <a:r>
              <a:rPr sz="1900" b="0">
                <a:solidFill>
                  <a:srgbClr val="2B2B2B"/>
                </a:solidFill>
                <a:latin typeface="Calibri"/>
              </a:rPr>
              <a:t>llaves foráneas, restricciones CHECK (nunca stock negativo) y transacciones.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D9480F"/>
                </a:solidFill>
                <a:latin typeface="Calibri"/>
              </a:rPr>
              <a:t>■  </a:t>
            </a:r>
            <a:r>
              <a:rPr sz="1900" b="1">
                <a:solidFill>
                  <a:srgbClr val="1A1A1A"/>
                </a:solidFill>
                <a:latin typeface="Calibri"/>
              </a:rPr>
              <a:t>Trazabilidad: </a:t>
            </a:r>
            <a:r>
              <a:rPr sz="1900" b="0">
                <a:solidFill>
                  <a:srgbClr val="2B2B2B"/>
                </a:solidFill>
                <a:latin typeface="Calibri"/>
              </a:rPr>
              <a:t>cada cambio de stock deja un movimiento; nada se borra físicamente.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StockPot · Ingeniería del Software II · Universidad Simón Bolívar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355080"/>
            <a:ext cx="960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2B2B2B"/>
                </a:solidFill>
                <a:latin typeface="Calibri"/>
              </a:rPr>
              <a:t>8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D9480F"/>
                </a:solidFill>
                <a:latin typeface="Calibri"/>
              </a:rPr>
              <a:t>Seguridad: </a:t>
            </a:r>
            <a:r>
              <a:rPr sz="4000" b="1">
                <a:solidFill>
                  <a:srgbClr val="1A1A1A"/>
                </a:solidFill>
                <a:latin typeface="Calibri"/>
              </a:rPr>
              <a:t>6 roles y 23 permisos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88720"/>
            <a:ext cx="1810512" cy="0"/>
          </a:xfrm>
          <a:prstGeom prst="line">
            <a:avLst/>
          </a:prstGeom>
          <a:ln w="63500">
            <a:solidFill>
              <a:srgbClr val="D948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508760"/>
            <a:ext cx="3611880" cy="1078992"/>
          </a:xfrm>
          <a:prstGeom prst="rect">
            <a:avLst/>
          </a:prstGeom>
          <a:solidFill>
            <a:srgbClr val="FFFFFF"/>
          </a:solidFill>
          <a:ln w="2540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3383280" cy="10058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D9480F"/>
                </a:solidFill>
                <a:latin typeface="Calibri"/>
              </a:rPr>
              <a:t>Administrador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Acceso total al sistema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4334255" y="1508760"/>
            <a:ext cx="3611880" cy="1078992"/>
          </a:xfrm>
          <a:prstGeom prst="rect">
            <a:avLst/>
          </a:prstGeom>
          <a:solidFill>
            <a:srgbClr val="FFFFFF"/>
          </a:solidFill>
          <a:ln w="2540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71416" y="1554480"/>
            <a:ext cx="3383280" cy="10058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D9480F"/>
                </a:solidFill>
                <a:latin typeface="Calibri"/>
              </a:rPr>
              <a:t>Cajero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Pagos, ventas y domicilios</a:t>
            </a:r>
          </a:p>
        </p:txBody>
      </p:sp>
      <p:sp>
        <p:nvSpPr>
          <p:cNvPr id="8" name="Rectangle 7"/>
          <p:cNvSpPr/>
          <p:nvPr/>
        </p:nvSpPr>
        <p:spPr>
          <a:xfrm>
            <a:off x="8119871" y="1508760"/>
            <a:ext cx="3611880" cy="1078992"/>
          </a:xfrm>
          <a:prstGeom prst="rect">
            <a:avLst/>
          </a:prstGeom>
          <a:solidFill>
            <a:srgbClr val="FFFFFF"/>
          </a:solidFill>
          <a:ln w="2540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57031" y="1554480"/>
            <a:ext cx="3383280" cy="10058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D9480F"/>
                </a:solidFill>
                <a:latin typeface="Calibri"/>
              </a:rPr>
              <a:t>Bodeguero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Inventario, proveedores y compras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43200"/>
            <a:ext cx="3611880" cy="1078992"/>
          </a:xfrm>
          <a:prstGeom prst="rect">
            <a:avLst/>
          </a:prstGeom>
          <a:solidFill>
            <a:srgbClr val="FFFFFF"/>
          </a:solidFill>
          <a:ln w="2540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788920"/>
            <a:ext cx="3383280" cy="10058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D9480F"/>
                </a:solidFill>
                <a:latin typeface="Calibri"/>
              </a:rPr>
              <a:t>Mesero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Pedidos en mesa y reservas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4255" y="2743200"/>
            <a:ext cx="3611880" cy="1078992"/>
          </a:xfrm>
          <a:prstGeom prst="rect">
            <a:avLst/>
          </a:prstGeom>
          <a:solidFill>
            <a:srgbClr val="FFFFFF"/>
          </a:solidFill>
          <a:ln w="2540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71416" y="2788920"/>
            <a:ext cx="3383280" cy="10058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D9480F"/>
                </a:solidFill>
                <a:latin typeface="Calibri"/>
              </a:rPr>
              <a:t>Cocinero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Órdenes en cocina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19871" y="2743200"/>
            <a:ext cx="3611880" cy="1078992"/>
          </a:xfrm>
          <a:prstGeom prst="rect">
            <a:avLst/>
          </a:prstGeom>
          <a:solidFill>
            <a:srgbClr val="FFFFFF"/>
          </a:solidFill>
          <a:ln w="2540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57031" y="2788920"/>
            <a:ext cx="3383280" cy="10058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D9480F"/>
                </a:solidFill>
                <a:latin typeface="Calibri"/>
              </a:rPr>
              <a:t>Domiciliario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Sus entregas a domicilio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14800"/>
            <a:ext cx="11064240" cy="2103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D9480F"/>
                </a:solidFill>
                <a:latin typeface="Calibri"/>
              </a:rPr>
              <a:t>■  </a:t>
            </a:r>
            <a:r>
              <a:rPr sz="2000" b="1">
                <a:solidFill>
                  <a:srgbClr val="1A1A1A"/>
                </a:solidFill>
                <a:latin typeface="Calibri"/>
              </a:rPr>
              <a:t>Inicio de sesión con token JWT </a:t>
            </a:r>
            <a:r>
              <a:rPr sz="2000" b="0">
                <a:solidFill>
                  <a:srgbClr val="2B2B2B"/>
                </a:solidFill>
                <a:latin typeface="Calibri"/>
              </a:rPr>
              <a:t>(vence a las 8 horas).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D9480F"/>
                </a:solidFill>
                <a:latin typeface="Calibri"/>
              </a:rPr>
              <a:t>■  </a:t>
            </a:r>
            <a:r>
              <a:rPr sz="2000" b="1">
                <a:solidFill>
                  <a:srgbClr val="1A1A1A"/>
                </a:solidFill>
                <a:latin typeface="Calibri"/>
              </a:rPr>
              <a:t>Contraseñas cifradas con scrypt: </a:t>
            </a:r>
            <a:r>
              <a:rPr sz="2000" b="0">
                <a:solidFill>
                  <a:srgbClr val="2B2B2B"/>
                </a:solidFill>
                <a:latin typeface="Calibri"/>
              </a:rPr>
              <a:t>nunca se guardan ni se muestran en texto plano.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D9480F"/>
                </a:solidFill>
                <a:latin typeface="Calibri"/>
              </a:rPr>
              <a:t>■  </a:t>
            </a:r>
            <a:r>
              <a:rPr sz="2000" b="1">
                <a:solidFill>
                  <a:srgbClr val="1A1A1A"/>
                </a:solidFill>
                <a:latin typeface="Calibri"/>
              </a:rPr>
              <a:t>Respuestas claras: </a:t>
            </a:r>
            <a:r>
              <a:rPr sz="2000" b="0">
                <a:solidFill>
                  <a:srgbClr val="2B2B2B"/>
                </a:solidFill>
                <a:latin typeface="Calibri"/>
              </a:rPr>
              <a:t>401 sin sesión, 403 sin permiso, 422 datos inválidos.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D9480F"/>
                </a:solidFill>
                <a:latin typeface="Calibri"/>
              </a:rPr>
              <a:t>■  </a:t>
            </a:r>
            <a:r>
              <a:rPr sz="2000" b="1">
                <a:solidFill>
                  <a:srgbClr val="1A1A1A"/>
                </a:solidFill>
                <a:latin typeface="Calibri"/>
              </a:rPr>
              <a:t>Protección de la interfaz: </a:t>
            </a:r>
            <a:r>
              <a:rPr sz="2000" b="0">
                <a:solidFill>
                  <a:srgbClr val="2B2B2B"/>
                </a:solidFill>
                <a:latin typeface="Calibri"/>
              </a:rPr>
              <a:t>los textos se muestran sin ejecutar código (contra XSS).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StockPot · Ingeniería del Software II · Universidad Simón Bolívar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355080"/>
            <a:ext cx="960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2B2B2B"/>
                </a:solidFill>
                <a:latin typeface="Calibri"/>
              </a:rPr>
              <a:t>9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D9480F"/>
                </a:solidFill>
                <a:latin typeface="Calibri"/>
              </a:rPr>
              <a:t>Lo que hace </a:t>
            </a:r>
            <a:r>
              <a:rPr sz="4000" b="1">
                <a:solidFill>
                  <a:srgbClr val="1A1A1A"/>
                </a:solidFill>
                <a:latin typeface="Calibri"/>
              </a:rPr>
              <a:t>el sistema (1/2)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88720"/>
            <a:ext cx="1810512" cy="0"/>
          </a:xfrm>
          <a:prstGeom prst="line">
            <a:avLst/>
          </a:prstGeom>
          <a:ln w="63500">
            <a:solidFill>
              <a:srgbClr val="D948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463040"/>
            <a:ext cx="5449824" cy="2240280"/>
          </a:xfrm>
          <a:prstGeom prst="rect">
            <a:avLst/>
          </a:prstGeom>
          <a:solidFill>
            <a:srgbClr val="FFFFFF"/>
          </a:solidFill>
          <a:ln w="2857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449824" cy="548640"/>
          </a:xfrm>
          <a:prstGeom prst="rect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49824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Usuarios y roles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21408"/>
            <a:ext cx="5175504" cy="1508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D9480F"/>
                </a:solidFill>
                <a:latin typeface="Calibri"/>
              </a:rPr>
              <a:t>■  </a:t>
            </a:r>
            <a:r>
              <a:rPr sz="1900" b="0">
                <a:solidFill>
                  <a:srgbClr val="2B2B2B"/>
                </a:solidFill>
                <a:latin typeface="Calibri"/>
              </a:rPr>
              <a:t>Registrar, consultar y editar usuarios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D9480F"/>
                </a:solidFill>
                <a:latin typeface="Calibri"/>
              </a:rPr>
              <a:t>■  </a:t>
            </a:r>
            <a:r>
              <a:rPr sz="1900" b="0">
                <a:solidFill>
                  <a:srgbClr val="2B2B2B"/>
                </a:solidFill>
                <a:latin typeface="Calibri"/>
              </a:rPr>
              <a:t>Inactivar sin borrar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D9480F"/>
                </a:solidFill>
                <a:latin typeface="Calibri"/>
              </a:rPr>
              <a:t>■  </a:t>
            </a:r>
            <a:r>
              <a:rPr sz="1900" b="0">
                <a:solidFill>
                  <a:srgbClr val="2B2B2B"/>
                </a:solidFill>
                <a:latin typeface="Calibri"/>
              </a:rPr>
              <a:t>Asignar roles y permisos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0488" y="1463040"/>
            <a:ext cx="5449824" cy="2240280"/>
          </a:xfrm>
          <a:prstGeom prst="rect">
            <a:avLst/>
          </a:prstGeom>
          <a:solidFill>
            <a:srgbClr val="FFFFFF"/>
          </a:solidFill>
          <a:ln w="2857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0488" y="1463040"/>
            <a:ext cx="5449824" cy="548640"/>
          </a:xfrm>
          <a:prstGeom prst="rect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0488" y="1463040"/>
            <a:ext cx="5449824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Proveedores y compras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2121408"/>
            <a:ext cx="5175504" cy="1508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D9480F"/>
                </a:solidFill>
                <a:latin typeface="Calibri"/>
              </a:rPr>
              <a:t>■  </a:t>
            </a:r>
            <a:r>
              <a:rPr sz="1900" b="0">
                <a:solidFill>
                  <a:srgbClr val="2B2B2B"/>
                </a:solidFill>
                <a:latin typeface="Calibri"/>
              </a:rPr>
              <a:t>Proveedores e insumos que venden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D9480F"/>
                </a:solidFill>
                <a:latin typeface="Calibri"/>
              </a:rPr>
              <a:t>■  </a:t>
            </a:r>
            <a:r>
              <a:rPr sz="1900" b="0">
                <a:solidFill>
                  <a:srgbClr val="2B2B2B"/>
                </a:solidFill>
                <a:latin typeface="Calibri"/>
              </a:rPr>
              <a:t>Órdenes de compra con estados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D9480F"/>
                </a:solidFill>
                <a:latin typeface="Calibri"/>
              </a:rPr>
              <a:t>■  </a:t>
            </a:r>
            <a:r>
              <a:rPr sz="1900" b="0">
                <a:solidFill>
                  <a:srgbClr val="2B2B2B"/>
                </a:solidFill>
                <a:latin typeface="Calibri"/>
              </a:rPr>
              <a:t>Recibir la compra suma al inventario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58768"/>
            <a:ext cx="5449824" cy="2240280"/>
          </a:xfrm>
          <a:prstGeom prst="rect">
            <a:avLst/>
          </a:prstGeom>
          <a:solidFill>
            <a:srgbClr val="FFFFFF"/>
          </a:solidFill>
          <a:ln w="2857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3858768"/>
            <a:ext cx="5449824" cy="548640"/>
          </a:xfrm>
          <a:prstGeom prst="rect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858768"/>
            <a:ext cx="5449824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Inventario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517136"/>
            <a:ext cx="5175504" cy="1508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D9480F"/>
                </a:solidFill>
                <a:latin typeface="Calibri"/>
              </a:rPr>
              <a:t>■  </a:t>
            </a:r>
            <a:r>
              <a:rPr sz="1900" b="0">
                <a:solidFill>
                  <a:srgbClr val="2B2B2B"/>
                </a:solidFill>
                <a:latin typeface="Calibri"/>
              </a:rPr>
              <a:t>Entradas y salidas con motivo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D9480F"/>
                </a:solidFill>
                <a:latin typeface="Calibri"/>
              </a:rPr>
              <a:t>■  </a:t>
            </a:r>
            <a:r>
              <a:rPr sz="1900" b="0">
                <a:solidFill>
                  <a:srgbClr val="2B2B2B"/>
                </a:solidFill>
                <a:latin typeface="Calibri"/>
              </a:rPr>
              <a:t>Stock mínimo, costo y valor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D9480F"/>
                </a:solidFill>
                <a:latin typeface="Calibri"/>
              </a:rPr>
              <a:t>■  </a:t>
            </a:r>
            <a:r>
              <a:rPr sz="1900" b="0">
                <a:solidFill>
                  <a:srgbClr val="2B2B2B"/>
                </a:solidFill>
                <a:latin typeface="Calibri"/>
              </a:rPr>
              <a:t>Alertas de stock bajo o agotado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0488" y="3858768"/>
            <a:ext cx="5449824" cy="2240280"/>
          </a:xfrm>
          <a:prstGeom prst="rect">
            <a:avLst/>
          </a:prstGeom>
          <a:solidFill>
            <a:srgbClr val="FFFFFF"/>
          </a:solidFill>
          <a:ln w="2857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90488" y="3858768"/>
            <a:ext cx="5449824" cy="548640"/>
          </a:xfrm>
          <a:prstGeom prst="rect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90488" y="3858768"/>
            <a:ext cx="5449824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Productos y menú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4517136"/>
            <a:ext cx="5175504" cy="1508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D9480F"/>
                </a:solidFill>
                <a:latin typeface="Calibri"/>
              </a:rPr>
              <a:t>■  </a:t>
            </a:r>
            <a:r>
              <a:rPr sz="1900" b="0">
                <a:solidFill>
                  <a:srgbClr val="2B2B2B"/>
                </a:solidFill>
                <a:latin typeface="Calibri"/>
              </a:rPr>
              <a:t>Platos por categoría y precio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D9480F"/>
                </a:solidFill>
                <a:latin typeface="Calibri"/>
              </a:rPr>
              <a:t>■  </a:t>
            </a:r>
            <a:r>
              <a:rPr sz="1900" b="0">
                <a:solidFill>
                  <a:srgbClr val="2B2B2B"/>
                </a:solidFill>
                <a:latin typeface="Calibri"/>
              </a:rPr>
              <a:t>Receta con sus insumos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D9480F"/>
                </a:solidFill>
                <a:latin typeface="Calibri"/>
              </a:rPr>
              <a:t>■  </a:t>
            </a:r>
            <a:r>
              <a:rPr sz="1900" b="0">
                <a:solidFill>
                  <a:srgbClr val="2B2B2B"/>
                </a:solidFill>
                <a:latin typeface="Calibri"/>
              </a:rPr>
              <a:t>Costo, margen y porciones posibles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StockPot · Ingeniería del Software II · Universidad Simón Bolívar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355080"/>
            <a:ext cx="960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2B2B2B"/>
                </a:solidFill>
                <a:latin typeface="Calibri"/>
              </a:rPr>
              <a:t>10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D9480F"/>
                </a:solidFill>
                <a:latin typeface="Calibri"/>
              </a:rPr>
              <a:t>Lo que hace </a:t>
            </a:r>
            <a:r>
              <a:rPr sz="4000" b="1">
                <a:solidFill>
                  <a:srgbClr val="1A1A1A"/>
                </a:solidFill>
                <a:latin typeface="Calibri"/>
              </a:rPr>
              <a:t>el sistema (2/2)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88720"/>
            <a:ext cx="1810512" cy="0"/>
          </a:xfrm>
          <a:prstGeom prst="line">
            <a:avLst/>
          </a:prstGeom>
          <a:ln w="63500">
            <a:solidFill>
              <a:srgbClr val="D948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463040"/>
            <a:ext cx="5449824" cy="2240280"/>
          </a:xfrm>
          <a:prstGeom prst="rect">
            <a:avLst/>
          </a:prstGeom>
          <a:solidFill>
            <a:srgbClr val="FFFFFF"/>
          </a:solidFill>
          <a:ln w="2857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449824" cy="548640"/>
          </a:xfrm>
          <a:prstGeom prst="rect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49824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Domicilios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21408"/>
            <a:ext cx="5175504" cy="1508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D9480F"/>
                </a:solidFill>
                <a:latin typeface="Calibri"/>
              </a:rPr>
              <a:t>■  </a:t>
            </a:r>
            <a:r>
              <a:rPr sz="1900" b="0">
                <a:solidFill>
                  <a:srgbClr val="2B2B2B"/>
                </a:solidFill>
                <a:latin typeface="Calibri"/>
              </a:rPr>
              <a:t>Cliente, dirección y referencia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D9480F"/>
                </a:solidFill>
                <a:latin typeface="Calibri"/>
              </a:rPr>
              <a:t>■  </a:t>
            </a:r>
            <a:r>
              <a:rPr sz="1900" b="0">
                <a:solidFill>
                  <a:srgbClr val="2B2B2B"/>
                </a:solidFill>
                <a:latin typeface="Calibri"/>
              </a:rPr>
              <a:t>Valida que alcance el inventario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D9480F"/>
                </a:solidFill>
                <a:latin typeface="Calibri"/>
              </a:rPr>
              <a:t>■  </a:t>
            </a:r>
            <a:r>
              <a:rPr sz="1900" b="0">
                <a:solidFill>
                  <a:srgbClr val="2B2B2B"/>
                </a:solidFill>
                <a:latin typeface="Calibri"/>
              </a:rPr>
              <a:t>Asignar domiciliario y seguir estados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0488" y="1463040"/>
            <a:ext cx="5449824" cy="2240280"/>
          </a:xfrm>
          <a:prstGeom prst="rect">
            <a:avLst/>
          </a:prstGeom>
          <a:solidFill>
            <a:srgbClr val="FFFFFF"/>
          </a:solidFill>
          <a:ln w="2857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0488" y="1463040"/>
            <a:ext cx="5449824" cy="548640"/>
          </a:xfrm>
          <a:prstGeom prst="rect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0488" y="1463040"/>
            <a:ext cx="5449824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Pagos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2121408"/>
            <a:ext cx="5175504" cy="1508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D9480F"/>
                </a:solidFill>
                <a:latin typeface="Calibri"/>
              </a:rPr>
              <a:t>■  </a:t>
            </a:r>
            <a:r>
              <a:rPr sz="1900" b="0">
                <a:solidFill>
                  <a:srgbClr val="2B2B2B"/>
                </a:solidFill>
                <a:latin typeface="Calibri"/>
              </a:rPr>
              <a:t>Efectivo, tarjeta o transferencia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D9480F"/>
                </a:solidFill>
                <a:latin typeface="Calibri"/>
              </a:rPr>
              <a:t>■  </a:t>
            </a:r>
            <a:r>
              <a:rPr sz="1900" b="0">
                <a:solidFill>
                  <a:srgbClr val="2B2B2B"/>
                </a:solidFill>
                <a:latin typeface="Calibri"/>
              </a:rPr>
              <a:t>Pagos parciales y cálculo del cambio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D9480F"/>
                </a:solidFill>
                <a:latin typeface="Calibri"/>
              </a:rPr>
              <a:t>■  </a:t>
            </a:r>
            <a:r>
              <a:rPr sz="1900" b="0">
                <a:solidFill>
                  <a:srgbClr val="2B2B2B"/>
                </a:solidFill>
                <a:latin typeface="Calibri"/>
              </a:rPr>
              <a:t>Comprobante imprimible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58768"/>
            <a:ext cx="5449824" cy="2240280"/>
          </a:xfrm>
          <a:prstGeom prst="rect">
            <a:avLst/>
          </a:prstGeom>
          <a:solidFill>
            <a:srgbClr val="FFFFFF"/>
          </a:solidFill>
          <a:ln w="2857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3858768"/>
            <a:ext cx="5449824" cy="548640"/>
          </a:xfrm>
          <a:prstGeom prst="rect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858768"/>
            <a:ext cx="5449824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Ventas y consumo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517136"/>
            <a:ext cx="5175504" cy="1508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D9480F"/>
                </a:solidFill>
                <a:latin typeface="Calibri"/>
              </a:rPr>
              <a:t>■  </a:t>
            </a:r>
            <a:r>
              <a:rPr sz="1900" b="0">
                <a:solidFill>
                  <a:srgbClr val="2B2B2B"/>
                </a:solidFill>
                <a:latin typeface="Calibri"/>
              </a:rPr>
              <a:t>Venta en caja o al pagar el domicilio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D9480F"/>
                </a:solidFill>
                <a:latin typeface="Calibri"/>
              </a:rPr>
              <a:t>■  </a:t>
            </a:r>
            <a:r>
              <a:rPr sz="1900" b="0">
                <a:solidFill>
                  <a:srgbClr val="2B2B2B"/>
                </a:solidFill>
                <a:latin typeface="Calibri"/>
              </a:rPr>
              <a:t>Descuenta insumos según la receta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D9480F"/>
                </a:solidFill>
                <a:latin typeface="Calibri"/>
              </a:rPr>
              <a:t>■  </a:t>
            </a:r>
            <a:r>
              <a:rPr sz="1900" b="0">
                <a:solidFill>
                  <a:srgbClr val="2B2B2B"/>
                </a:solidFill>
                <a:latin typeface="Calibri"/>
              </a:rPr>
              <a:t>Productos más vendidos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0488" y="3858768"/>
            <a:ext cx="5449824" cy="2240280"/>
          </a:xfrm>
          <a:prstGeom prst="rect">
            <a:avLst/>
          </a:prstGeom>
          <a:solidFill>
            <a:srgbClr val="FFFFFF"/>
          </a:solidFill>
          <a:ln w="2857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90488" y="3858768"/>
            <a:ext cx="5449824" cy="548640"/>
          </a:xfrm>
          <a:prstGeom prst="rect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90488" y="3858768"/>
            <a:ext cx="5449824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Reportes y estadísticas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4517136"/>
            <a:ext cx="5175504" cy="1508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D9480F"/>
                </a:solidFill>
                <a:latin typeface="Calibri"/>
              </a:rPr>
              <a:t>■  </a:t>
            </a:r>
            <a:r>
              <a:rPr sz="1900" b="0">
                <a:solidFill>
                  <a:srgbClr val="2B2B2B"/>
                </a:solidFill>
                <a:latin typeface="Calibri"/>
              </a:rPr>
              <a:t>Inventario, ventas, consumo e histórico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D9480F"/>
                </a:solidFill>
                <a:latin typeface="Calibri"/>
              </a:rPr>
              <a:t>■  </a:t>
            </a:r>
            <a:r>
              <a:rPr sz="1900" b="0">
                <a:solidFill>
                  <a:srgbClr val="2B2B2B"/>
                </a:solidFill>
                <a:latin typeface="Calibri"/>
              </a:rPr>
              <a:t>Gráficas y filtro por fechas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D9480F"/>
                </a:solidFill>
                <a:latin typeface="Calibri"/>
              </a:rPr>
              <a:t>■  </a:t>
            </a:r>
            <a:r>
              <a:rPr sz="1900" b="0">
                <a:solidFill>
                  <a:srgbClr val="2B2B2B"/>
                </a:solidFill>
                <a:latin typeface="Calibri"/>
              </a:rPr>
              <a:t>Exportar a Excel (CSV)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StockPot · Ingeniería del Software II · Universidad Simón Bolívar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355080"/>
            <a:ext cx="960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2B2B2B"/>
                </a:solidFill>
                <a:latin typeface="Calibri"/>
              </a:rPr>
              <a:t>11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D9480F"/>
                </a:solidFill>
                <a:latin typeface="Calibri"/>
              </a:rPr>
              <a:t>Cómo funciona: </a:t>
            </a:r>
            <a:r>
              <a:rPr sz="4000" b="1">
                <a:solidFill>
                  <a:srgbClr val="1A1A1A"/>
                </a:solidFill>
                <a:latin typeface="Calibri"/>
              </a:rPr>
              <a:t>del insumo al reporte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88720"/>
            <a:ext cx="1810512" cy="0"/>
          </a:xfrm>
          <a:prstGeom prst="line">
            <a:avLst/>
          </a:prstGeom>
          <a:ln w="63500">
            <a:solidFill>
              <a:srgbClr val="D948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005840" y="1645920"/>
            <a:ext cx="914400" cy="91440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914400" cy="9144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65960" y="2103120"/>
            <a:ext cx="868680" cy="0"/>
          </a:xfrm>
          <a:prstGeom prst="line">
            <a:avLst/>
          </a:prstGeom>
          <a:ln w="44450">
            <a:solidFill>
              <a:srgbClr val="D948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2788920"/>
            <a:ext cx="178308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2880360"/>
            <a:ext cx="164592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A1A1A"/>
                </a:solidFill>
                <a:latin typeface="Calibri"/>
              </a:rPr>
              <a:t>Compra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600200" cy="1600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2B2B2B"/>
                </a:solidFill>
                <a:latin typeface="Calibri"/>
              </a:rPr>
              <a:t>El insumo entra al inventario</a:t>
            </a:r>
          </a:p>
        </p:txBody>
      </p:sp>
      <p:sp>
        <p:nvSpPr>
          <p:cNvPr id="10" name="Oval 9"/>
          <p:cNvSpPr/>
          <p:nvPr/>
        </p:nvSpPr>
        <p:spPr>
          <a:xfrm>
            <a:off x="2880360" y="1645920"/>
            <a:ext cx="914400" cy="91440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80360" y="1645920"/>
            <a:ext cx="914400" cy="9144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0" y="2103120"/>
            <a:ext cx="868680" cy="0"/>
          </a:xfrm>
          <a:prstGeom prst="line">
            <a:avLst/>
          </a:prstGeom>
          <a:ln w="44450">
            <a:solidFill>
              <a:srgbClr val="D948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423160" y="2788920"/>
            <a:ext cx="178308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96312" y="2880360"/>
            <a:ext cx="164592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A1A1A"/>
                </a:solidFill>
                <a:latin typeface="Calibri"/>
              </a:rPr>
              <a:t>Receta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3474720"/>
            <a:ext cx="1600200" cy="1600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2B2B2B"/>
                </a:solidFill>
                <a:latin typeface="Calibri"/>
              </a:rPr>
              <a:t>Cada plato sabe qué insumos usa</a:t>
            </a:r>
          </a:p>
        </p:txBody>
      </p:sp>
      <p:sp>
        <p:nvSpPr>
          <p:cNvPr id="16" name="Oval 15"/>
          <p:cNvSpPr/>
          <p:nvPr/>
        </p:nvSpPr>
        <p:spPr>
          <a:xfrm>
            <a:off x="4754879" y="1645920"/>
            <a:ext cx="914400" cy="91440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79" y="1645920"/>
            <a:ext cx="914400" cy="9144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14999" y="2103120"/>
            <a:ext cx="868680" cy="0"/>
          </a:xfrm>
          <a:prstGeom prst="line">
            <a:avLst/>
          </a:prstGeom>
          <a:ln w="44450">
            <a:solidFill>
              <a:srgbClr val="D948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297679" y="2788920"/>
            <a:ext cx="178308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70831" y="2880360"/>
            <a:ext cx="164592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A1A1A"/>
                </a:solidFill>
                <a:latin typeface="Calibri"/>
              </a:rPr>
              <a:t>Pedido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19" y="3474720"/>
            <a:ext cx="1600200" cy="1600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2B2B2B"/>
                </a:solidFill>
                <a:latin typeface="Calibri"/>
              </a:rPr>
              <a:t>A domicilio o en caja</a:t>
            </a:r>
          </a:p>
        </p:txBody>
      </p:sp>
      <p:sp>
        <p:nvSpPr>
          <p:cNvPr id="22" name="Oval 21"/>
          <p:cNvSpPr/>
          <p:nvPr/>
        </p:nvSpPr>
        <p:spPr>
          <a:xfrm>
            <a:off x="6629399" y="1645920"/>
            <a:ext cx="914400" cy="91440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9399" y="1645920"/>
            <a:ext cx="914400" cy="9144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589519" y="2103120"/>
            <a:ext cx="868681" cy="0"/>
          </a:xfrm>
          <a:prstGeom prst="line">
            <a:avLst/>
          </a:prstGeom>
          <a:ln w="44450">
            <a:solidFill>
              <a:srgbClr val="D948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172199" y="2788920"/>
            <a:ext cx="178308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45351" y="2880360"/>
            <a:ext cx="164592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A1A1A"/>
                </a:solidFill>
                <a:latin typeface="Calibri"/>
              </a:rPr>
              <a:t>Pago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39" y="3474720"/>
            <a:ext cx="1600200" cy="1600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2B2B2B"/>
                </a:solidFill>
                <a:latin typeface="Calibri"/>
              </a:rPr>
              <a:t>Efectivo, tarjeta o transferencia</a:t>
            </a:r>
          </a:p>
        </p:txBody>
      </p:sp>
      <p:sp>
        <p:nvSpPr>
          <p:cNvPr id="28" name="Oval 27"/>
          <p:cNvSpPr/>
          <p:nvPr/>
        </p:nvSpPr>
        <p:spPr>
          <a:xfrm>
            <a:off x="8503919" y="1645920"/>
            <a:ext cx="914400" cy="91440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03919" y="1645920"/>
            <a:ext cx="914400" cy="9144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464040" y="2103120"/>
            <a:ext cx="868679" cy="0"/>
          </a:xfrm>
          <a:prstGeom prst="line">
            <a:avLst/>
          </a:prstGeom>
          <a:ln w="44450">
            <a:solidFill>
              <a:srgbClr val="D948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046719" y="2788920"/>
            <a:ext cx="178308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19871" y="2880360"/>
            <a:ext cx="164592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A1A1A"/>
                </a:solidFill>
                <a:latin typeface="Calibri"/>
              </a:rPr>
              <a:t>Venta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59" y="3474720"/>
            <a:ext cx="1600200" cy="1600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2B2B2B"/>
                </a:solidFill>
                <a:latin typeface="Calibri"/>
              </a:rPr>
              <a:t>Descuenta los insumos automáticamente</a:t>
            </a:r>
          </a:p>
        </p:txBody>
      </p:sp>
      <p:sp>
        <p:nvSpPr>
          <p:cNvPr id="34" name="Oval 33"/>
          <p:cNvSpPr/>
          <p:nvPr/>
        </p:nvSpPr>
        <p:spPr>
          <a:xfrm>
            <a:off x="10378440" y="1645920"/>
            <a:ext cx="914400" cy="91440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378440" y="1645920"/>
            <a:ext cx="914400" cy="9144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21240" y="2788920"/>
            <a:ext cx="178308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994392" y="2880360"/>
            <a:ext cx="164592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A1A1A"/>
                </a:solidFill>
                <a:latin typeface="Calibri"/>
              </a:rPr>
              <a:t>Reportes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12680" y="3474720"/>
            <a:ext cx="1600200" cy="1600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2B2B2B"/>
                </a:solidFill>
                <a:latin typeface="Calibri"/>
              </a:rPr>
              <a:t>Información para decidir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349240"/>
            <a:ext cx="11064240" cy="731520"/>
          </a:xfrm>
          <a:prstGeom prst="rect">
            <a:avLst/>
          </a:prstGeom>
          <a:solidFill>
            <a:srgbClr val="FFF1EA"/>
          </a:solidFill>
          <a:ln w="1905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5349240"/>
            <a:ext cx="11064240" cy="7315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Calibri"/>
              </a:rPr>
              <a:t>Todo en una sola transacción: si falta un insumo, no queda ni el pago ni la venta a medias.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StockPot · Ingeniería del Software II · Universidad Simón Bolívar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98480" y="6355080"/>
            <a:ext cx="960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2B2B2B"/>
                </a:solidFill>
                <a:latin typeface="Calibri"/>
              </a:rPr>
              <a:t>12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D9480F"/>
                </a:solidFill>
                <a:latin typeface="Calibri"/>
              </a:rPr>
              <a:t>Metodología </a:t>
            </a:r>
            <a:r>
              <a:rPr sz="4000" b="1">
                <a:solidFill>
                  <a:srgbClr val="1A1A1A"/>
                </a:solidFill>
                <a:latin typeface="Calibri"/>
              </a:rPr>
              <a:t>y gestión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88720"/>
            <a:ext cx="1810512" cy="0"/>
          </a:xfrm>
          <a:prstGeom prst="line">
            <a:avLst/>
          </a:prstGeom>
          <a:ln w="63500">
            <a:solidFill>
              <a:srgbClr val="D948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463040"/>
            <a:ext cx="5486400" cy="594360"/>
          </a:xfrm>
          <a:prstGeom prst="rect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486400" cy="5943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Jira: 166 tareas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57400"/>
            <a:ext cx="182880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1828800" cy="9144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0" b="1">
                <a:solidFill>
                  <a:srgbClr val="D9480F"/>
                </a:solidFill>
                <a:latin typeface="Calibri"/>
              </a:rPr>
              <a:t>123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1828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listas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2057400"/>
            <a:ext cx="182880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77440" y="2103120"/>
            <a:ext cx="1828800" cy="9144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0" b="1">
                <a:solidFill>
                  <a:srgbClr val="D9480F"/>
                </a:solidFill>
                <a:latin typeface="Calibri"/>
              </a:rP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017520"/>
            <a:ext cx="1828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en curso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057400"/>
            <a:ext cx="182880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06240" y="2103120"/>
            <a:ext cx="1828800" cy="9144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0" b="1">
                <a:solidFill>
                  <a:srgbClr val="D9480F"/>
                </a:solidFill>
                <a:latin typeface="Calibri"/>
              </a:rPr>
              <a:t>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3017520"/>
            <a:ext cx="1828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por hacer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40480"/>
            <a:ext cx="5486400" cy="2377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D9480F"/>
                </a:solidFill>
                <a:latin typeface="Calibri"/>
              </a:rPr>
              <a:t>■  </a:t>
            </a:r>
            <a:r>
              <a:rPr sz="1900" b="1">
                <a:solidFill>
                  <a:srgbClr val="1A1A1A"/>
                </a:solidFill>
                <a:latin typeface="Calibri"/>
              </a:rPr>
              <a:t>4 iteraciones, </a:t>
            </a:r>
            <a:r>
              <a:rPr sz="1900" b="0">
                <a:solidFill>
                  <a:srgbClr val="2B2B2B"/>
                </a:solidFill>
                <a:latin typeface="Calibri"/>
              </a:rPr>
              <a:t>una por integrante, con un sprint cada una.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D9480F"/>
                </a:solidFill>
                <a:latin typeface="Calibri"/>
              </a:rPr>
              <a:t>■  </a:t>
            </a:r>
            <a:r>
              <a:rPr sz="1900" b="1">
                <a:solidFill>
                  <a:srgbClr val="1A1A1A"/>
                </a:solidFill>
                <a:latin typeface="Calibri"/>
              </a:rPr>
              <a:t>Fases por iteración: </a:t>
            </a:r>
            <a:r>
              <a:rPr sz="1900" b="0">
                <a:solidFill>
                  <a:srgbClr val="2B2B2B"/>
                </a:solidFill>
                <a:latin typeface="Calibri"/>
              </a:rPr>
              <a:t>análisis, diseño, codificación y pruebas.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D9480F"/>
                </a:solidFill>
                <a:latin typeface="Calibri"/>
              </a:rPr>
              <a:t>■  </a:t>
            </a:r>
            <a:r>
              <a:rPr sz="1900" b="1">
                <a:solidFill>
                  <a:srgbClr val="1A1A1A"/>
                </a:solidFill>
                <a:latin typeface="Calibri"/>
              </a:rPr>
              <a:t>Cronograma: </a:t>
            </a:r>
            <a:r>
              <a:rPr sz="1900" b="0">
                <a:solidFill>
                  <a:srgbClr val="2B2B2B"/>
                </a:solidFill>
                <a:latin typeface="Calibri"/>
              </a:rPr>
              <a:t>10/08 al 13/11/2026 en GanttProject.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463040"/>
            <a:ext cx="5239512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1463040"/>
            <a:ext cx="5239512" cy="594360"/>
          </a:xfrm>
          <a:prstGeom prst="rect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1463040"/>
            <a:ext cx="5239512" cy="5943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GitFlow en GitHub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29400" y="2240280"/>
            <a:ext cx="2103120" cy="566928"/>
          </a:xfrm>
          <a:prstGeom prst="rect">
            <a:avLst/>
          </a:prstGeom>
          <a:solidFill>
            <a:srgbClr val="1A1A1A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2240280"/>
            <a:ext cx="210312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240280"/>
            <a:ext cx="269748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versiones entregadas (v0.7)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2953512"/>
            <a:ext cx="2103120" cy="566928"/>
          </a:xfrm>
          <a:prstGeom prst="rect">
            <a:avLst/>
          </a:prstGeom>
          <a:solidFill>
            <a:srgbClr val="1A1A1A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9400" y="2953512"/>
            <a:ext cx="210312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develop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953512"/>
            <a:ext cx="269748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integración del equipo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9400" y="3666744"/>
            <a:ext cx="21031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29400" y="3666744"/>
            <a:ext cx="210312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feature/RF-xx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3666744"/>
            <a:ext cx="269748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una rama por requisito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29400" y="4379976"/>
            <a:ext cx="21031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29400" y="4379976"/>
            <a:ext cx="210312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docs/…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4379976"/>
            <a:ext cx="269748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documentación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5166360"/>
            <a:ext cx="4846320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D9480F"/>
                </a:solidFill>
                <a:latin typeface="Calibri"/>
              </a:rPr>
              <a:t>78 </a:t>
            </a:r>
            <a:r>
              <a:rPr sz="1900" b="1">
                <a:solidFill>
                  <a:srgbClr val="1A1A1A"/>
                </a:solidFill>
                <a:latin typeface="Calibri"/>
              </a:rPr>
              <a:t>commits  ·  </a:t>
            </a:r>
            <a:r>
              <a:rPr sz="1900" b="1">
                <a:solidFill>
                  <a:srgbClr val="D9480F"/>
                </a:solidFill>
                <a:latin typeface="Calibri"/>
              </a:rPr>
              <a:t>32 </a:t>
            </a:r>
            <a:r>
              <a:rPr sz="1900" b="1">
                <a:solidFill>
                  <a:srgbClr val="1A1A1A"/>
                </a:solidFill>
                <a:latin typeface="Calibri"/>
              </a:rPr>
              <a:t>integraciones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1A1A1A"/>
                </a:solidFill>
                <a:latin typeface="Calibri"/>
              </a:rPr>
              <a:t>Solo se integra si todas las pruebas pasan.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StockPot · Ingeniería del Software II · Universidad Simón Bolívar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55080"/>
            <a:ext cx="960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2B2B2B"/>
                </a:solidFill>
                <a:latin typeface="Calibri"/>
              </a:rPr>
              <a:t>13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D9480F"/>
                </a:solidFill>
                <a:latin typeface="Calibri"/>
              </a:rPr>
              <a:t>Estimación: </a:t>
            </a:r>
            <a:r>
              <a:rPr sz="4000" b="1">
                <a:solidFill>
                  <a:srgbClr val="1A1A1A"/>
                </a:solidFill>
                <a:latin typeface="Calibri"/>
              </a:rPr>
              <a:t>puntos de función y PERT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88720"/>
            <a:ext cx="1810512" cy="0"/>
          </a:xfrm>
          <a:prstGeom prst="line">
            <a:avLst/>
          </a:prstGeom>
          <a:ln w="63500">
            <a:solidFill>
              <a:srgbClr val="D948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463040"/>
            <a:ext cx="5486400" cy="3017520"/>
          </a:xfrm>
          <a:prstGeom prst="rect">
            <a:avLst/>
          </a:prstGeom>
          <a:solidFill>
            <a:srgbClr val="FFFFFF"/>
          </a:solidFill>
          <a:ln w="2857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486400" cy="548640"/>
          </a:xfrm>
          <a:prstGeom prst="rect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Puntos de función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21408"/>
            <a:ext cx="5212080" cy="2286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D9480F"/>
                </a:solidFill>
                <a:latin typeface="Calibri"/>
              </a:rPr>
              <a:t>■  </a:t>
            </a:r>
            <a:r>
              <a:rPr sz="1900" b="1">
                <a:solidFill>
                  <a:srgbClr val="1A1A1A"/>
                </a:solidFill>
                <a:latin typeface="Calibri"/>
              </a:rPr>
              <a:t>80 </a:t>
            </a:r>
            <a:r>
              <a:rPr sz="1900" b="0">
                <a:solidFill>
                  <a:srgbClr val="2B2B2B"/>
                </a:solidFill>
                <a:latin typeface="Calibri"/>
              </a:rPr>
              <a:t>requisitos funcionales analizados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D9480F"/>
                </a:solidFill>
                <a:latin typeface="Calibri"/>
              </a:rPr>
              <a:t>■  </a:t>
            </a:r>
            <a:r>
              <a:rPr sz="1900" b="1">
                <a:solidFill>
                  <a:srgbClr val="1A1A1A"/>
                </a:solidFill>
                <a:latin typeface="Calibri"/>
              </a:rPr>
              <a:t>330 </a:t>
            </a:r>
            <a:r>
              <a:rPr sz="1900" b="0">
                <a:solidFill>
                  <a:srgbClr val="2B2B2B"/>
                </a:solidFill>
                <a:latin typeface="Calibri"/>
              </a:rPr>
              <a:t>PF transaccionales (entradas, salidas y consultas)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D9480F"/>
                </a:solidFill>
                <a:latin typeface="Calibri"/>
              </a:rPr>
              <a:t>■  </a:t>
            </a:r>
            <a:r>
              <a:rPr sz="1900" b="1">
                <a:solidFill>
                  <a:srgbClr val="1A1A1A"/>
                </a:solidFill>
                <a:latin typeface="Calibri"/>
              </a:rPr>
              <a:t>515 </a:t>
            </a:r>
            <a:r>
              <a:rPr sz="1900" b="0">
                <a:solidFill>
                  <a:srgbClr val="2B2B2B"/>
                </a:solidFill>
                <a:latin typeface="Calibri"/>
              </a:rPr>
              <a:t>PF sin ajustar con archivos lógicos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D9480F"/>
                </a:solidFill>
                <a:latin typeface="Calibri"/>
              </a:rPr>
              <a:t>■  </a:t>
            </a:r>
            <a:r>
              <a:rPr sz="1900" b="1">
                <a:solidFill>
                  <a:srgbClr val="1A1A1A"/>
                </a:solidFill>
                <a:latin typeface="Calibri"/>
              </a:rPr>
              <a:t>233 PF </a:t>
            </a:r>
            <a:r>
              <a:rPr sz="1900" b="0">
                <a:solidFill>
                  <a:srgbClr val="2B2B2B"/>
                </a:solidFill>
                <a:latin typeface="Calibri"/>
              </a:rPr>
              <a:t>entregados en este corte (70,6 %)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53912" y="1463040"/>
            <a:ext cx="5486400" cy="3017520"/>
          </a:xfrm>
          <a:prstGeom prst="rect">
            <a:avLst/>
          </a:prstGeom>
          <a:solidFill>
            <a:srgbClr val="FFFFFF"/>
          </a:solidFill>
          <a:ln w="2857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53912" y="1463040"/>
            <a:ext cx="5486400" cy="548640"/>
          </a:xfrm>
          <a:prstGeom prst="rect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53912" y="1463040"/>
            <a:ext cx="5486400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PERT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2" y="2121408"/>
            <a:ext cx="5212080" cy="2286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D9480F"/>
                </a:solidFill>
                <a:latin typeface="Calibri"/>
              </a:rPr>
              <a:t>■  </a:t>
            </a:r>
            <a:r>
              <a:rPr sz="1900" b="1">
                <a:solidFill>
                  <a:srgbClr val="1A1A1A"/>
                </a:solidFill>
                <a:latin typeface="Calibri"/>
              </a:rPr>
              <a:t>Tres tiempos </a:t>
            </a:r>
            <a:r>
              <a:rPr sz="1900" b="0">
                <a:solidFill>
                  <a:srgbClr val="2B2B2B"/>
                </a:solidFill>
                <a:latin typeface="Calibri"/>
              </a:rPr>
              <a:t>por tarea: optimista, probable y pesimista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D9480F"/>
                </a:solidFill>
                <a:latin typeface="Calibri"/>
              </a:rPr>
              <a:t>■  </a:t>
            </a:r>
            <a:r>
              <a:rPr sz="1900" b="1">
                <a:solidFill>
                  <a:srgbClr val="1A1A1A"/>
                </a:solidFill>
                <a:latin typeface="Calibri"/>
              </a:rPr>
              <a:t>Duración esperada: </a:t>
            </a:r>
            <a:r>
              <a:rPr sz="1900" b="0">
                <a:solidFill>
                  <a:srgbClr val="2B2B2B"/>
                </a:solidFill>
                <a:latin typeface="Calibri"/>
              </a:rPr>
              <a:t>te = (O + 4M + P) / 6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D9480F"/>
                </a:solidFill>
                <a:latin typeface="Calibri"/>
              </a:rPr>
              <a:t>■  </a:t>
            </a:r>
            <a:r>
              <a:rPr sz="1900" b="1">
                <a:solidFill>
                  <a:srgbClr val="1A1A1A"/>
                </a:solidFill>
                <a:latin typeface="Calibri"/>
              </a:rPr>
              <a:t>166 tareas </a:t>
            </a:r>
            <a:r>
              <a:rPr sz="1900" b="0">
                <a:solidFill>
                  <a:srgbClr val="2B2B2B"/>
                </a:solidFill>
                <a:latin typeface="Calibri"/>
              </a:rPr>
              <a:t>con predecesoras y responsable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D9480F"/>
                </a:solidFill>
                <a:latin typeface="Calibri"/>
              </a:rPr>
              <a:t>■  </a:t>
            </a:r>
            <a:r>
              <a:rPr sz="1900" b="1">
                <a:solidFill>
                  <a:srgbClr val="1A1A1A"/>
                </a:solidFill>
                <a:latin typeface="Calibri"/>
              </a:rPr>
              <a:t>Predecesoras </a:t>
            </a:r>
            <a:r>
              <a:rPr sz="1900" b="0">
                <a:solidFill>
                  <a:srgbClr val="2B2B2B"/>
                </a:solidFill>
                <a:latin typeface="Calibri"/>
              </a:rPr>
              <a:t>para armar el cronograma hasta el 13/11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709160"/>
            <a:ext cx="11091672" cy="1371600"/>
          </a:xfrm>
          <a:prstGeom prst="rect">
            <a:avLst/>
          </a:prstGeom>
          <a:solidFill>
            <a:srgbClr val="FFF1EA"/>
          </a:solidFill>
          <a:ln w="2540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4709160"/>
            <a:ext cx="10698480" cy="1371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D9480F"/>
                </a:solidFill>
                <a:latin typeface="Calibri"/>
              </a:rPr>
              <a:t>¿Por qué puntos de función? </a:t>
            </a:r>
            <a:r>
              <a:rPr sz="2100" b="0">
                <a:solidFill>
                  <a:srgbClr val="1A1A1A"/>
                </a:solidFill>
                <a:latin typeface="Calibri"/>
              </a:rPr>
              <a:t>Miden el tamaño por lo que el usuario recibe, no por líneas de código; así el 70 % se calcula de forma objetiva.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StockPot · Ingeniería del Software II · Universidad Simón Bolívar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355080"/>
            <a:ext cx="960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2B2B2B"/>
                </a:solidFill>
                <a:latin typeface="Calibri"/>
              </a:rPr>
              <a:t>14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D9480F"/>
                </a:solidFill>
                <a:latin typeface="Calibri"/>
              </a:rPr>
              <a:t>Calidad: </a:t>
            </a:r>
            <a:r>
              <a:rPr sz="4000" b="1">
                <a:solidFill>
                  <a:srgbClr val="1A1A1A"/>
                </a:solidFill>
                <a:latin typeface="Calibri"/>
              </a:rPr>
              <a:t>pruebas en varios niveles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88720"/>
            <a:ext cx="1810512" cy="0"/>
          </a:xfrm>
          <a:prstGeom prst="line">
            <a:avLst/>
          </a:prstGeom>
          <a:ln w="63500">
            <a:solidFill>
              <a:srgbClr val="D948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468880" y="1463040"/>
            <a:ext cx="5120640" cy="804672"/>
          </a:xfrm>
          <a:prstGeom prst="rect">
            <a:avLst/>
          </a:prstGeom>
          <a:solidFill>
            <a:srgbClr val="D9480F"/>
          </a:solidFill>
          <a:ln w="3175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468880" y="1463040"/>
            <a:ext cx="5120640" cy="8046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Aceptación:  </a:t>
            </a:r>
            <a:r>
              <a:rPr sz="2200" b="0">
                <a:solidFill>
                  <a:srgbClr val="FFFFFF"/>
                </a:solidFill>
                <a:latin typeface="Calibri"/>
              </a:rPr>
              <a:t>10 de 10 criterios cumplidos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2395728"/>
            <a:ext cx="6400800" cy="804672"/>
          </a:xfrm>
          <a:prstGeom prst="rect">
            <a:avLst/>
          </a:prstGeom>
          <a:solidFill>
            <a:srgbClr val="FFFFFF"/>
          </a:solidFill>
          <a:ln w="3175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0" y="2395728"/>
            <a:ext cx="6400800" cy="8046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Funcionales CRUD:  </a:t>
            </a:r>
            <a:r>
              <a:rPr sz="2200" b="0">
                <a:solidFill>
                  <a:srgbClr val="1A1A1A"/>
                </a:solidFill>
                <a:latin typeface="Calibri"/>
              </a:rPr>
              <a:t>33 casos en la interfaz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328416"/>
            <a:ext cx="7680960" cy="804672"/>
          </a:xfrm>
          <a:prstGeom prst="rect">
            <a:avLst/>
          </a:prstGeom>
          <a:solidFill>
            <a:srgbClr val="D9480F"/>
          </a:solidFill>
          <a:ln w="3175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3328416"/>
            <a:ext cx="7680960" cy="8046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Integración (API):  </a:t>
            </a:r>
            <a:r>
              <a:rPr sz="2200" b="0">
                <a:solidFill>
                  <a:srgbClr val="FFFFFF"/>
                </a:solidFill>
                <a:latin typeface="Calibri"/>
              </a:rPr>
              <a:t>226 pruebas automáticas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261104"/>
            <a:ext cx="8961120" cy="804672"/>
          </a:xfrm>
          <a:prstGeom prst="rect">
            <a:avLst/>
          </a:prstGeom>
          <a:solidFill>
            <a:srgbClr val="FFFFFF"/>
          </a:solidFill>
          <a:ln w="3175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4261104"/>
            <a:ext cx="8961120" cy="8046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Unitarias:  </a:t>
            </a:r>
            <a:r>
              <a:rPr sz="2200" b="0">
                <a:solidFill>
                  <a:srgbClr val="1A1A1A"/>
                </a:solidFill>
                <a:latin typeface="Calibri"/>
              </a:rPr>
              <a:t>41 pruebas con pytest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38360" y="1463040"/>
            <a:ext cx="1901952" cy="1737360"/>
          </a:xfrm>
          <a:prstGeom prst="rect">
            <a:avLst/>
          </a:prstGeom>
          <a:solidFill>
            <a:srgbClr val="FFFFFF"/>
          </a:solidFill>
          <a:ln w="2857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38360" y="1554480"/>
            <a:ext cx="1901952" cy="955547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D9480F"/>
                </a:solidFill>
                <a:latin typeface="Calibri"/>
              </a:rPr>
              <a:t>95 %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48088" y="2470708"/>
            <a:ext cx="1682496" cy="6949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de cobertura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38360" y="3337560"/>
            <a:ext cx="1901952" cy="1737360"/>
          </a:xfrm>
          <a:prstGeom prst="rect">
            <a:avLst/>
          </a:prstGeom>
          <a:solidFill>
            <a:srgbClr val="FFFFFF"/>
          </a:solidFill>
          <a:ln w="2857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38360" y="3429000"/>
            <a:ext cx="1901952" cy="955547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D9480F"/>
                </a:solidFill>
                <a:latin typeface="Calibri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48088" y="4345228"/>
            <a:ext cx="1682496" cy="6949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defectos corregidos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349240"/>
            <a:ext cx="11091672" cy="731520"/>
          </a:xfrm>
          <a:prstGeom prst="rect">
            <a:avLst/>
          </a:prstGeom>
          <a:solidFill>
            <a:srgbClr val="FFF1EA"/>
          </a:solidFill>
          <a:ln w="1905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5349240"/>
            <a:ext cx="11091672" cy="7315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267 pruebas automáticas aprobadas (100 %) en cada integración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StockPot · Ingeniería del Software II · Universidad Simón Bolívar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355080"/>
            <a:ext cx="960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2B2B2B"/>
                </a:solidFill>
                <a:latin typeface="Calibri"/>
              </a:rPr>
              <a:t>15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D9480F"/>
                </a:solidFill>
                <a:latin typeface="Calibri"/>
              </a:rPr>
              <a:t>Estándares </a:t>
            </a:r>
            <a:r>
              <a:rPr sz="4000" b="1">
                <a:solidFill>
                  <a:srgbClr val="1A1A1A"/>
                </a:solidFill>
                <a:latin typeface="Calibri"/>
              </a:rPr>
              <a:t>aplicados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88720"/>
            <a:ext cx="1810512" cy="0"/>
          </a:xfrm>
          <a:prstGeom prst="line">
            <a:avLst/>
          </a:prstGeom>
          <a:ln w="63500">
            <a:solidFill>
              <a:srgbClr val="D948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463040"/>
            <a:ext cx="3017520" cy="804672"/>
          </a:xfrm>
          <a:prstGeom prst="rect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3017520" cy="8046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IEEE 1058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0" y="1463040"/>
            <a:ext cx="8074152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49039" y="1463040"/>
            <a:ext cx="7772400" cy="8046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Plan de gestión del proyecto: la entrega está organizada con su estructura.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95728"/>
            <a:ext cx="3017520" cy="804672"/>
          </a:xfrm>
          <a:prstGeom prst="rect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395728"/>
            <a:ext cx="3017520" cy="8046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IEEE 830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2395728"/>
            <a:ext cx="8074152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49039" y="2395728"/>
            <a:ext cx="7772400" cy="8046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Especificación de requisitos: 80 requisitos funcionales (RF-01 a RF-11).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28416"/>
            <a:ext cx="3017520" cy="804672"/>
          </a:xfrm>
          <a:prstGeom prst="rect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328416"/>
            <a:ext cx="3017520" cy="8046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IEEE 1016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3328416"/>
            <a:ext cx="8074152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49039" y="3328416"/>
            <a:ext cx="7772400" cy="8046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Diseño del software: arquitectura en capas y modelo de datos.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61104"/>
            <a:ext cx="3017520" cy="804672"/>
          </a:xfrm>
          <a:prstGeom prst="rect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261104"/>
            <a:ext cx="3017520" cy="8046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IEEE 829 / ISO 29119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4261104"/>
            <a:ext cx="8074152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49039" y="4261104"/>
            <a:ext cx="7772400" cy="8046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Documentación de pruebas: plan, casos, matriz e informe.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193792"/>
            <a:ext cx="3017520" cy="804672"/>
          </a:xfrm>
          <a:prstGeom prst="rect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5193792"/>
            <a:ext cx="3017520" cy="8046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ISO/IEC 25010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66160" y="5193792"/>
            <a:ext cx="8074152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49039" y="5193792"/>
            <a:ext cx="7772400" cy="8046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Calidad del producto: funcionalidad, seguridad y rendimiento.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StockPot · Ingeniería del Software II · Universidad Simón Bolívar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355080"/>
            <a:ext cx="960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2B2B2B"/>
                </a:solidFill>
                <a:latin typeface="Calibri"/>
              </a:rPr>
              <a:t>16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D9480F"/>
                </a:solidFill>
                <a:latin typeface="Calibri"/>
              </a:rPr>
              <a:t>El proyecto </a:t>
            </a:r>
            <a:r>
              <a:rPr sz="4000" b="1">
                <a:solidFill>
                  <a:srgbClr val="1A1A1A"/>
                </a:solidFill>
                <a:latin typeface="Calibri"/>
              </a:rPr>
              <a:t>en cifras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88720"/>
            <a:ext cx="1810512" cy="0"/>
          </a:xfrm>
          <a:prstGeom prst="line">
            <a:avLst/>
          </a:prstGeom>
          <a:ln w="63500">
            <a:solidFill>
              <a:srgbClr val="D948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463040"/>
            <a:ext cx="3520440" cy="2148840"/>
          </a:xfrm>
          <a:prstGeom prst="rect">
            <a:avLst/>
          </a:prstGeom>
          <a:solidFill>
            <a:srgbClr val="FFFFFF"/>
          </a:solidFill>
          <a:ln w="2857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3520440" cy="118186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0" b="1">
                <a:solidFill>
                  <a:srgbClr val="D9480F"/>
                </a:solidFill>
                <a:latin typeface="Calibri"/>
              </a:rPr>
              <a:t>≈ 3 300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09367"/>
            <a:ext cx="3300984" cy="8595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líneas del backend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334255" y="1463040"/>
            <a:ext cx="3520440" cy="2148840"/>
          </a:xfrm>
          <a:prstGeom prst="rect">
            <a:avLst/>
          </a:prstGeom>
          <a:solidFill>
            <a:srgbClr val="FFFFFF"/>
          </a:solidFill>
          <a:ln w="2857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34255" y="1554480"/>
            <a:ext cx="3520440" cy="118186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0" b="1">
                <a:solidFill>
                  <a:srgbClr val="D9480F"/>
                </a:solidFill>
                <a:latin typeface="Calibri"/>
              </a:rPr>
              <a:t>≈ 2 800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983" y="2709367"/>
            <a:ext cx="3300984" cy="8595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líneas de pruebas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9871" y="1463040"/>
            <a:ext cx="3520440" cy="2148840"/>
          </a:xfrm>
          <a:prstGeom prst="rect">
            <a:avLst/>
          </a:prstGeom>
          <a:solidFill>
            <a:srgbClr val="FFFFFF"/>
          </a:solidFill>
          <a:ln w="2857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19871" y="1554480"/>
            <a:ext cx="3520440" cy="118186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0" b="1">
                <a:solidFill>
                  <a:srgbClr val="D9480F"/>
                </a:solidFill>
                <a:latin typeface="Calibri"/>
              </a:rPr>
              <a:t>≈ 5 400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9" y="2709367"/>
            <a:ext cx="3300984" cy="8595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líneas de la interfaz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94760"/>
            <a:ext cx="3520440" cy="2148840"/>
          </a:xfrm>
          <a:prstGeom prst="rect">
            <a:avLst/>
          </a:prstGeom>
          <a:solidFill>
            <a:srgbClr val="FFFFFF"/>
          </a:solidFill>
          <a:ln w="2857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886200"/>
            <a:ext cx="3520440" cy="118186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0" b="1">
                <a:solidFill>
                  <a:srgbClr val="D9480F"/>
                </a:solidFill>
                <a:latin typeface="Calibri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041087"/>
            <a:ext cx="3300984" cy="8595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pantallas web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4255" y="3794760"/>
            <a:ext cx="3520440" cy="2148840"/>
          </a:xfrm>
          <a:prstGeom prst="rect">
            <a:avLst/>
          </a:prstGeom>
          <a:solidFill>
            <a:srgbClr val="FFFFFF"/>
          </a:solidFill>
          <a:ln w="2857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34255" y="3886200"/>
            <a:ext cx="3520440" cy="118186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0" b="1">
                <a:solidFill>
                  <a:srgbClr val="D9480F"/>
                </a:solidFill>
                <a:latin typeface="Calibri"/>
              </a:rPr>
              <a:t>≈ 61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3" y="5041087"/>
            <a:ext cx="3300984" cy="8595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rutas de la API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19871" y="3794760"/>
            <a:ext cx="3520440" cy="2148840"/>
          </a:xfrm>
          <a:prstGeom prst="rect">
            <a:avLst/>
          </a:prstGeom>
          <a:solidFill>
            <a:srgbClr val="FFFFFF"/>
          </a:solidFill>
          <a:ln w="2857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19871" y="3886200"/>
            <a:ext cx="3520440" cy="118186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0" b="1">
                <a:solidFill>
                  <a:srgbClr val="D9480F"/>
                </a:solidFill>
                <a:latin typeface="Calibri"/>
              </a:rPr>
              <a:t>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9" y="5041087"/>
            <a:ext cx="3300984" cy="8595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tablas en la 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StockPot · Ingeniería del Software II · Universidad Simón Bolívar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355080"/>
            <a:ext cx="960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2B2B2B"/>
                </a:solidFill>
                <a:latin typeface="Calibri"/>
              </a:rPr>
              <a:t>17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D9480F"/>
                </a:solidFill>
                <a:latin typeface="Calibri"/>
              </a:rPr>
              <a:t>Lecciones aprendidas </a:t>
            </a:r>
            <a:r>
              <a:rPr sz="4000" b="1">
                <a:solidFill>
                  <a:srgbClr val="1A1A1A"/>
                </a:solidFill>
                <a:latin typeface="Calibri"/>
              </a:rPr>
              <a:t>y riesgos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88720"/>
            <a:ext cx="1810512" cy="0"/>
          </a:xfrm>
          <a:prstGeom prst="line">
            <a:avLst/>
          </a:prstGeom>
          <a:ln w="63500">
            <a:solidFill>
              <a:srgbClr val="D948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463040"/>
            <a:ext cx="5486400" cy="4663440"/>
          </a:xfrm>
          <a:prstGeom prst="rect">
            <a:avLst/>
          </a:prstGeom>
          <a:solidFill>
            <a:srgbClr val="FFFFFF"/>
          </a:solidFill>
          <a:ln w="2857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486400" cy="548640"/>
          </a:xfrm>
          <a:prstGeom prst="rect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Lecciones aprendidas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21408"/>
            <a:ext cx="5212080" cy="3931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D9480F"/>
                </a:solidFill>
                <a:latin typeface="Calibri"/>
              </a:rPr>
              <a:t>■  </a:t>
            </a:r>
            <a:r>
              <a:rPr sz="2100" b="0">
                <a:solidFill>
                  <a:srgbClr val="2B2B2B"/>
                </a:solidFill>
                <a:latin typeface="Calibri"/>
              </a:rPr>
              <a:t>Revisar el código antes de probar ahorra correcciones.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D9480F"/>
                </a:solidFill>
                <a:latin typeface="Calibri"/>
              </a:rPr>
              <a:t>■  </a:t>
            </a:r>
            <a:r>
              <a:rPr sz="2100" b="0">
                <a:solidFill>
                  <a:srgbClr val="2B2B2B"/>
                </a:solidFill>
                <a:latin typeface="Calibri"/>
              </a:rPr>
              <a:t>Las reglas críticas van en un solo lugar (inventario).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D9480F"/>
                </a:solidFill>
                <a:latin typeface="Calibri"/>
              </a:rPr>
              <a:t>■  </a:t>
            </a:r>
            <a:r>
              <a:rPr sz="2100" b="0">
                <a:solidFill>
                  <a:srgbClr val="2B2B2B"/>
                </a:solidFill>
                <a:latin typeface="Calibri"/>
              </a:rPr>
              <a:t>Scripts de base de datos que actualizan sin borrar datos.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D9480F"/>
                </a:solidFill>
                <a:latin typeface="Calibri"/>
              </a:rPr>
              <a:t>■  </a:t>
            </a:r>
            <a:r>
              <a:rPr sz="2100" b="0">
                <a:solidFill>
                  <a:srgbClr val="2B2B2B"/>
                </a:solidFill>
                <a:latin typeface="Calibri"/>
              </a:rPr>
              <a:t>Probar también en celular desde el inicio.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D9480F"/>
                </a:solidFill>
                <a:latin typeface="Calibri"/>
              </a:rPr>
              <a:t>■  </a:t>
            </a:r>
            <a:r>
              <a:rPr sz="2100" b="0">
                <a:solidFill>
                  <a:srgbClr val="2B2B2B"/>
                </a:solidFill>
                <a:latin typeface="Calibri"/>
              </a:rPr>
              <a:t>Integrar seguido evita conflictos grandes.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53912" y="1463040"/>
            <a:ext cx="5486400" cy="4663440"/>
          </a:xfrm>
          <a:prstGeom prst="rect">
            <a:avLst/>
          </a:prstGeom>
          <a:solidFill>
            <a:srgbClr val="FFFFFF"/>
          </a:solidFill>
          <a:ln w="2857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53912" y="1463040"/>
            <a:ext cx="5486400" cy="548640"/>
          </a:xfrm>
          <a:prstGeom prst="rect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53912" y="1463040"/>
            <a:ext cx="5486400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Riesgos y cómo se manejan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2" y="2121408"/>
            <a:ext cx="5212080" cy="3931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D9480F"/>
                </a:solidFill>
                <a:latin typeface="Calibri"/>
              </a:rPr>
              <a:t>■  </a:t>
            </a:r>
            <a:r>
              <a:rPr sz="2100" b="1">
                <a:solidFill>
                  <a:srgbClr val="1A1A1A"/>
                </a:solidFill>
                <a:latin typeface="Calibri"/>
              </a:rPr>
              <a:t>Atraso de la Iteración 3: </a:t>
            </a:r>
            <a:r>
              <a:rPr sz="2100" b="0">
                <a:solidFill>
                  <a:srgbClr val="2B2B2B"/>
                </a:solidFill>
                <a:latin typeface="Calibri"/>
              </a:rPr>
              <a:t>se replanificó sin mover el 13/11.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D9480F"/>
                </a:solidFill>
                <a:latin typeface="Calibri"/>
              </a:rPr>
              <a:t>■  </a:t>
            </a:r>
            <a:r>
              <a:rPr sz="2100" b="1">
                <a:solidFill>
                  <a:srgbClr val="1A1A1A"/>
                </a:solidFill>
                <a:latin typeface="Calibri"/>
              </a:rPr>
              <a:t>Pérdida de datos: </a:t>
            </a:r>
            <a:r>
              <a:rPr sz="2100" b="0">
                <a:solidFill>
                  <a:srgbClr val="2B2B2B"/>
                </a:solidFill>
                <a:latin typeface="Calibri"/>
              </a:rPr>
              <a:t>respaldos en GitHub y scripts incrementales.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D9480F"/>
                </a:solidFill>
                <a:latin typeface="Calibri"/>
              </a:rPr>
              <a:t>■  </a:t>
            </a:r>
            <a:r>
              <a:rPr sz="2100" b="1">
                <a:solidFill>
                  <a:srgbClr val="1A1A1A"/>
                </a:solidFill>
                <a:latin typeface="Calibri"/>
              </a:rPr>
              <a:t>Errores al integrar: </a:t>
            </a:r>
            <a:r>
              <a:rPr sz="2100" b="0">
                <a:solidFill>
                  <a:srgbClr val="2B2B2B"/>
                </a:solidFill>
                <a:latin typeface="Calibri"/>
              </a:rPr>
              <a:t>pruebas automáticas obligatorias.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D9480F"/>
                </a:solidFill>
                <a:latin typeface="Calibri"/>
              </a:rPr>
              <a:t>■  </a:t>
            </a:r>
            <a:r>
              <a:rPr sz="2100" b="1">
                <a:solidFill>
                  <a:srgbClr val="1A1A1A"/>
                </a:solidFill>
                <a:latin typeface="Calibri"/>
              </a:rPr>
              <a:t>Carga de usuarios: </a:t>
            </a:r>
            <a:r>
              <a:rPr sz="2100" b="0">
                <a:solidFill>
                  <a:srgbClr val="2B2B2B"/>
                </a:solidFill>
                <a:latin typeface="Calibri"/>
              </a:rPr>
              <a:t>pruebas de carga pendientes.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StockPot · Ingeniería del Software II · Universidad Simón Bolívar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355080"/>
            <a:ext cx="960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2B2B2B"/>
                </a:solidFill>
                <a:latin typeface="Calibri"/>
              </a:rPr>
              <a:t>18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D9480F"/>
                </a:solidFill>
                <a:latin typeface="Calibri"/>
              </a:rPr>
              <a:t>Lo que sigue: </a:t>
            </a:r>
            <a:r>
              <a:rPr sz="4000" b="1">
                <a:solidFill>
                  <a:srgbClr val="1A1A1A"/>
                </a:solidFill>
                <a:latin typeface="Calibri"/>
              </a:rPr>
              <a:t>el 30 % restante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88720"/>
            <a:ext cx="1810512" cy="0"/>
          </a:xfrm>
          <a:prstGeom prst="line">
            <a:avLst/>
          </a:prstGeom>
          <a:ln w="63500">
            <a:solidFill>
              <a:srgbClr val="D948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548640" y="1737360"/>
            <a:ext cx="960120" cy="96012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960120" cy="9601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783080" y="1600200"/>
            <a:ext cx="9857232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11680" y="1645920"/>
            <a:ext cx="5760720" cy="11430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A1A1A"/>
                </a:solidFill>
                <a:latin typeface="Calibri"/>
              </a:rPr>
              <a:t>Iteración 3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2B2B2B"/>
                </a:solidFill>
                <a:latin typeface="Calibri"/>
              </a:rPr>
              <a:t>Pedidos en mesa, cocina y reservas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645920"/>
            <a:ext cx="3840480" cy="11430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D9480F"/>
                </a:solidFill>
                <a:latin typeface="Calibri"/>
              </a:rPr>
              <a:t>21 de octubre al 13 de noviembre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00400"/>
            <a:ext cx="960120" cy="96012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960120" cy="9601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83080" y="3063240"/>
            <a:ext cx="9857232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11680" y="3108960"/>
            <a:ext cx="5760720" cy="11430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A1A1A"/>
                </a:solidFill>
                <a:latin typeface="Calibri"/>
              </a:rPr>
              <a:t>Pruebas de aceptación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2B2B2B"/>
                </a:solidFill>
                <a:latin typeface="Calibri"/>
              </a:rPr>
              <a:t>Con el cliente Sexto Sentido Café &amp; Brunch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108960"/>
            <a:ext cx="3840480" cy="11430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D9480F"/>
                </a:solidFill>
                <a:latin typeface="Calibri"/>
              </a:rPr>
              <a:t>Antes de la entrega final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63440"/>
            <a:ext cx="960120" cy="96012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663440"/>
            <a:ext cx="960120" cy="9601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83080" y="4526280"/>
            <a:ext cx="9857232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011680" y="4572000"/>
            <a:ext cx="5760720" cy="11430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A1A1A"/>
                </a:solidFill>
                <a:latin typeface="Calibri"/>
              </a:rPr>
              <a:t>Entrega final y sustentación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2B2B2B"/>
                </a:solidFill>
                <a:latin typeface="Calibri"/>
              </a:rPr>
              <a:t>100 % del software y documentación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4572000"/>
            <a:ext cx="3840480" cy="11430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D9480F"/>
                </a:solidFill>
                <a:latin typeface="Calibri"/>
              </a:rPr>
              <a:t>13 de noviembre de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StockPot · Ingeniería del Software II · Universidad Simón Bolívar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355080"/>
            <a:ext cx="960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2B2B2B"/>
                </a:solidFill>
                <a:latin typeface="Calibri"/>
              </a:rPr>
              <a:t>19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1188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0" b="1">
                <a:solidFill>
                  <a:srgbClr val="D9480F"/>
                </a:solidFill>
                <a:latin typeface="Calibri"/>
              </a:rPr>
              <a:t>Demostración </a:t>
            </a:r>
            <a:r>
              <a:rPr sz="6600" b="1">
                <a:solidFill>
                  <a:srgbClr val="1A1A1A"/>
                </a:solidFill>
                <a:latin typeface="Calibri"/>
              </a:rPr>
              <a:t>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1051560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>
                <a:solidFill>
                  <a:srgbClr val="1A1A1A"/>
                </a:solidFill>
                <a:latin typeface="Calibri"/>
              </a:rPr>
              <a:t>Del registro del usuario al reporte de ventas, con el sistema funcionando.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00400"/>
            <a:ext cx="5120640" cy="1371600"/>
          </a:xfrm>
          <a:prstGeom prst="rect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3200400"/>
            <a:ext cx="5120640" cy="1371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¡Gracias!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3200400"/>
            <a:ext cx="5120640" cy="137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0" y="3200400"/>
            <a:ext cx="5120640" cy="1371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D9480F"/>
                </a:solidFill>
                <a:latin typeface="Calibri"/>
              </a:rPr>
              <a:t>¿Preguntas?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029200"/>
            <a:ext cx="1051560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Código: </a:t>
            </a:r>
            <a:r>
              <a:rPr sz="2200" b="0">
                <a:solidFill>
                  <a:srgbClr val="2B2B2B"/>
                </a:solidFill>
                <a:latin typeface="Calibri"/>
              </a:rPr>
              <a:t>github.com/Angelssjyf/stockpot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StockPot · Ingeniería del Software II · Universidad Simón Bolívar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355080"/>
            <a:ext cx="960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2B2B2B"/>
                </a:solidFill>
                <a:latin typeface="Calibri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2173</Words>
  <Application>Microsoft Office PowerPoint</Application>
  <PresentationFormat>Panorámica</PresentationFormat>
  <Paragraphs>366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ANGEL RODRIGUEZ VEGA</cp:lastModifiedBy>
  <cp:revision>2</cp:revision>
  <dcterms:created xsi:type="dcterms:W3CDTF">2013-01-27T09:14:16Z</dcterms:created>
  <dcterms:modified xsi:type="dcterms:W3CDTF">2026-10-20T04:54:00Z</dcterms:modified>
  <cp:category/>
</cp:coreProperties>
</file>